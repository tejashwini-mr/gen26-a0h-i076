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106" y="709768"/>
            <a:ext cx="3788410" cy="2140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11302" y="3333867"/>
            <a:ext cx="92201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11302" y="1376131"/>
            <a:ext cx="2595880" cy="2076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85">
                <a:latin typeface="Arial Black"/>
                <a:cs typeface="Arial Black"/>
              </a:rPr>
              <a:t>Genesis</a:t>
            </a:r>
            <a:r>
              <a:rPr dirty="0" sz="1200" spc="35">
                <a:latin typeface="Arial Black"/>
                <a:cs typeface="Arial Black"/>
              </a:rPr>
              <a:t> </a:t>
            </a:r>
            <a:r>
              <a:rPr dirty="0" sz="1200" spc="-105">
                <a:latin typeface="Arial Black"/>
                <a:cs typeface="Arial Black"/>
              </a:rPr>
              <a:t>Ideathon:</a:t>
            </a:r>
            <a:r>
              <a:rPr dirty="0" sz="1200" spc="100">
                <a:latin typeface="Arial Black"/>
                <a:cs typeface="Arial Black"/>
              </a:rPr>
              <a:t> </a:t>
            </a:r>
            <a:r>
              <a:rPr dirty="0" sz="1200" spc="-120">
                <a:latin typeface="Arial Black"/>
                <a:cs typeface="Arial Black"/>
              </a:rPr>
              <a:t>Final</a:t>
            </a:r>
            <a:r>
              <a:rPr dirty="0" sz="1200" spc="20">
                <a:latin typeface="Arial Black"/>
                <a:cs typeface="Arial Black"/>
              </a:rPr>
              <a:t> </a:t>
            </a:r>
            <a:r>
              <a:rPr dirty="0" sz="1200" spc="-114">
                <a:latin typeface="Arial Black"/>
                <a:cs typeface="Arial Black"/>
              </a:rPr>
              <a:t>Presentation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505" y="1699844"/>
            <a:ext cx="3960495" cy="994410"/>
          </a:xfrm>
          <a:custGeom>
            <a:avLst/>
            <a:gdLst/>
            <a:ahLst/>
            <a:cxnLst/>
            <a:rect l="l" t="t" r="r" b="b"/>
            <a:pathLst>
              <a:path w="3960495" h="994410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943418"/>
                </a:lnTo>
                <a:lnTo>
                  <a:pt x="3977" y="963118"/>
                </a:lnTo>
                <a:lnTo>
                  <a:pt x="14823" y="979205"/>
                </a:lnTo>
                <a:lnTo>
                  <a:pt x="30910" y="990051"/>
                </a:lnTo>
                <a:lnTo>
                  <a:pt x="50610" y="994029"/>
                </a:lnTo>
                <a:lnTo>
                  <a:pt x="3909450" y="994029"/>
                </a:lnTo>
                <a:lnTo>
                  <a:pt x="3929151" y="990051"/>
                </a:lnTo>
                <a:lnTo>
                  <a:pt x="3945238" y="979205"/>
                </a:lnTo>
                <a:lnTo>
                  <a:pt x="3956084" y="963118"/>
                </a:lnTo>
                <a:lnTo>
                  <a:pt x="3960061" y="943418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3974" y="1697314"/>
            <a:ext cx="38100" cy="999490"/>
          </a:xfrm>
          <a:custGeom>
            <a:avLst/>
            <a:gdLst/>
            <a:ahLst/>
            <a:cxnLst/>
            <a:rect l="l" t="t" r="r" b="b"/>
            <a:pathLst>
              <a:path w="38100" h="999489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980110"/>
                </a:lnTo>
                <a:lnTo>
                  <a:pt x="1491" y="987498"/>
                </a:lnTo>
                <a:lnTo>
                  <a:pt x="5558" y="993530"/>
                </a:lnTo>
                <a:lnTo>
                  <a:pt x="11591" y="997598"/>
                </a:lnTo>
                <a:lnTo>
                  <a:pt x="18979" y="999089"/>
                </a:lnTo>
                <a:lnTo>
                  <a:pt x="26366" y="997598"/>
                </a:lnTo>
                <a:lnTo>
                  <a:pt x="32399" y="993530"/>
                </a:lnTo>
                <a:lnTo>
                  <a:pt x="36466" y="987498"/>
                </a:lnTo>
                <a:lnTo>
                  <a:pt x="37958" y="980110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9826" y="1774487"/>
            <a:ext cx="3669029" cy="831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ID:</a:t>
            </a:r>
            <a:r>
              <a:rPr dirty="0" sz="1000" spc="55">
                <a:latin typeface="Arial"/>
                <a:cs typeface="Arial"/>
              </a:rPr>
              <a:t> </a:t>
            </a:r>
            <a:r>
              <a:rPr dirty="0" sz="1000" spc="-50" i="1">
                <a:latin typeface="Arial"/>
                <a:cs typeface="Arial"/>
              </a:rPr>
              <a:t>GEN26-</a:t>
            </a:r>
            <a:r>
              <a:rPr dirty="0" sz="1000" spc="-45" i="1">
                <a:latin typeface="Arial"/>
                <a:cs typeface="Arial"/>
              </a:rPr>
              <a:t>A0H-</a:t>
            </a:r>
            <a:r>
              <a:rPr dirty="0" sz="1000" spc="-20" i="1">
                <a:latin typeface="Arial"/>
                <a:cs typeface="Arial"/>
              </a:rPr>
              <a:t>I076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 spc="-55">
                <a:latin typeface="Arial"/>
                <a:cs typeface="Arial"/>
              </a:rPr>
              <a:t>Team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30">
                <a:latin typeface="Arial"/>
                <a:cs typeface="Arial"/>
              </a:rPr>
              <a:t>Name:</a:t>
            </a:r>
            <a:r>
              <a:rPr dirty="0" sz="1000" spc="105">
                <a:latin typeface="Arial"/>
                <a:cs typeface="Arial"/>
              </a:rPr>
              <a:t> </a:t>
            </a:r>
            <a:r>
              <a:rPr dirty="0" sz="1000" spc="-10" i="1">
                <a:latin typeface="Arial"/>
                <a:cs typeface="Arial"/>
              </a:rPr>
              <a:t>NerdSquad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565"/>
              </a:spcBef>
            </a:pPr>
            <a:r>
              <a:rPr dirty="0" sz="1000" spc="-20">
                <a:latin typeface="Arial"/>
                <a:cs typeface="Arial"/>
              </a:rPr>
              <a:t>Domain:</a:t>
            </a:r>
            <a:r>
              <a:rPr dirty="0" sz="1000" spc="120">
                <a:latin typeface="Arial"/>
                <a:cs typeface="Arial"/>
              </a:rPr>
              <a:t> </a:t>
            </a:r>
            <a:r>
              <a:rPr dirty="0" sz="1000" spc="-25" i="1">
                <a:latin typeface="Arial"/>
                <a:cs typeface="Arial"/>
              </a:rPr>
              <a:t>Domain </a:t>
            </a:r>
            <a:r>
              <a:rPr dirty="0" sz="1000" spc="-60" i="1">
                <a:latin typeface="Arial"/>
                <a:cs typeface="Arial"/>
              </a:rPr>
              <a:t>8-</a:t>
            </a:r>
            <a:r>
              <a:rPr dirty="0" sz="1000" spc="-50" i="1">
                <a:latin typeface="Arial"/>
                <a:cs typeface="Arial"/>
              </a:rPr>
              <a:t>Space,</a:t>
            </a:r>
            <a:r>
              <a:rPr dirty="0" sz="1000" spc="-15" i="1">
                <a:latin typeface="Arial"/>
                <a:cs typeface="Arial"/>
              </a:rPr>
              <a:t> </a:t>
            </a:r>
            <a:r>
              <a:rPr dirty="0" sz="1000" spc="-60" i="1">
                <a:latin typeface="Arial"/>
                <a:cs typeface="Arial"/>
              </a:rPr>
              <a:t>Aerospace,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i="1">
                <a:latin typeface="Arial"/>
                <a:cs typeface="Arial"/>
              </a:rPr>
              <a:t>Mobility</a:t>
            </a:r>
            <a:r>
              <a:rPr dirty="0" sz="1000" spc="-10" i="1">
                <a:latin typeface="Arial"/>
                <a:cs typeface="Arial"/>
              </a:rPr>
              <a:t> </a:t>
            </a:r>
            <a:r>
              <a:rPr dirty="0" sz="1000" spc="-20" i="1">
                <a:latin typeface="Arial"/>
                <a:cs typeface="Arial"/>
              </a:rPr>
              <a:t>and </a:t>
            </a:r>
            <a:r>
              <a:rPr dirty="0" sz="1000" spc="-55" i="1">
                <a:latin typeface="Arial"/>
                <a:cs typeface="Arial"/>
              </a:rPr>
              <a:t>Next-</a:t>
            </a:r>
            <a:r>
              <a:rPr dirty="0" sz="1000" spc="-30" i="1">
                <a:latin typeface="Arial"/>
                <a:cs typeface="Arial"/>
              </a:rPr>
              <a:t>Gen </a:t>
            </a:r>
            <a:r>
              <a:rPr dirty="0" sz="1000" spc="-10" i="1">
                <a:latin typeface="Arial"/>
                <a:cs typeface="Arial"/>
              </a:rPr>
              <a:t>Infras-tructure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1302" y="2886984"/>
            <a:ext cx="25393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</a:rPr>
              <a:t>Amrita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Vishwa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</a:rPr>
              <a:t>Vidyapeetham,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Coimbatore</a:t>
            </a:r>
            <a:r>
              <a:rPr dirty="0" sz="900" spc="25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154B33"/>
                </a:solidFill>
                <a:latin typeface="Arial"/>
                <a:cs typeface="Arial"/>
              </a:rPr>
              <a:t>Campus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2879" y="2886984"/>
            <a:ext cx="12934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50">
                <a:latin typeface="Arial Black"/>
                <a:cs typeface="Arial Black"/>
              </a:rPr>
              <a:t>Date:</a:t>
            </a:r>
            <a:r>
              <a:rPr dirty="0" sz="900" spc="2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11th</a:t>
            </a:r>
            <a:r>
              <a:rPr dirty="0" sz="900" spc="-10">
                <a:latin typeface="Arial"/>
                <a:cs typeface="Arial"/>
              </a:rPr>
              <a:t> October </a:t>
            </a:r>
            <a:r>
              <a:rPr dirty="0" sz="900" spc="-20"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Presentation</a:t>
            </a:r>
            <a:r>
              <a:rPr dirty="0" sz="1100" spc="120">
                <a:latin typeface="Arial Black"/>
                <a:cs typeface="Arial Black"/>
              </a:rPr>
              <a:t> </a:t>
            </a:r>
            <a:r>
              <a:rPr dirty="0" sz="1100" spc="-90">
                <a:latin typeface="Arial Black"/>
                <a:cs typeface="Arial Black"/>
              </a:rPr>
              <a:t>Outline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Statement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dirty="0" sz="900" spc="-45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Understanding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Existing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6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Gaps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&amp;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dirty="0" sz="900" spc="-4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Challenges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Our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Technical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Approach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Innovation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&amp;</a:t>
            </a:r>
            <a:r>
              <a:rPr dirty="0" sz="900" spc="2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Uniqueness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305" algn="l"/>
              </a:tabLst>
            </a:pPr>
            <a:r>
              <a:rPr dirty="0" sz="900" spc="-2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Feasibility</a:t>
            </a:r>
            <a:r>
              <a:rPr dirty="0" sz="900" spc="5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9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&amp;</a:t>
            </a:r>
            <a:r>
              <a:rPr dirty="0" sz="900" spc="55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Scalability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305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Cost 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for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 Product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305" algn="l"/>
              </a:tabLst>
            </a:pPr>
            <a:r>
              <a:rPr dirty="0" sz="900" spc="-55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Use</a:t>
            </a:r>
            <a:r>
              <a:rPr dirty="0" sz="90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Cases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Impacts</a:t>
            </a: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and</a:t>
            </a:r>
            <a:r>
              <a:rPr dirty="0" sz="900" spc="-3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Benefits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2090" algn="l"/>
              </a:tabLst>
            </a:pPr>
            <a:r>
              <a:rPr dirty="0" sz="900" spc="-3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Sustainable</a:t>
            </a:r>
            <a:r>
              <a:rPr dirty="0" sz="900" spc="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2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Development</a:t>
            </a:r>
            <a:r>
              <a:rPr dirty="0" sz="900" spc="15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Goals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Individual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Member</a:t>
            </a:r>
            <a:r>
              <a:rPr dirty="0" sz="900" spc="5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dirty="0" sz="900" spc="-1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Contribution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Statement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1175677"/>
            <a:ext cx="3810000" cy="938530"/>
          </a:xfrm>
          <a:custGeom>
            <a:avLst/>
            <a:gdLst/>
            <a:ahLst/>
            <a:cxnLst/>
            <a:rect l="l" t="t" r="r" b="b"/>
            <a:pathLst>
              <a:path w="3810000" h="938530">
                <a:moveTo>
                  <a:pt x="3809657" y="44424"/>
                </a:moveTo>
                <a:lnTo>
                  <a:pt x="3808361" y="44424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887107"/>
                </a:lnTo>
                <a:lnTo>
                  <a:pt x="4013" y="906843"/>
                </a:lnTo>
                <a:lnTo>
                  <a:pt x="14922" y="922997"/>
                </a:lnTo>
                <a:lnTo>
                  <a:pt x="31076" y="933907"/>
                </a:lnTo>
                <a:lnTo>
                  <a:pt x="50812" y="937920"/>
                </a:lnTo>
                <a:lnTo>
                  <a:pt x="3758857" y="937920"/>
                </a:lnTo>
                <a:lnTo>
                  <a:pt x="3778580" y="933907"/>
                </a:lnTo>
                <a:lnTo>
                  <a:pt x="3794734" y="922997"/>
                </a:lnTo>
                <a:lnTo>
                  <a:pt x="3805656" y="906843"/>
                </a:lnTo>
                <a:lnTo>
                  <a:pt x="3809657" y="887107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37299" y="1310415"/>
            <a:ext cx="3371850" cy="64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High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line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utilization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mixed-</a:t>
            </a:r>
            <a:r>
              <a:rPr dirty="0" sz="900" spc="-40">
                <a:latin typeface="Arial"/>
                <a:cs typeface="Arial"/>
              </a:rPr>
              <a:t>speed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traffic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(fast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passenger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vs. </a:t>
            </a:r>
            <a:r>
              <a:rPr dirty="0" sz="900" spc="-30">
                <a:latin typeface="Arial"/>
                <a:cs typeface="Arial"/>
              </a:rPr>
              <a:t>slow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freight)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5">
                <a:latin typeface="Arial"/>
                <a:cs typeface="Arial"/>
              </a:rPr>
              <a:t>cause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65">
                <a:latin typeface="Arial"/>
                <a:cs typeface="Arial"/>
              </a:rPr>
              <a:t>severe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schedule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disruptions.</a:t>
            </a:r>
            <a:r>
              <a:rPr dirty="0" sz="900" spc="1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minor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delay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5</a:t>
            </a:r>
            <a:r>
              <a:rPr dirty="0" sz="900" spc="-10">
                <a:latin typeface="Arial"/>
                <a:cs typeface="Arial"/>
              </a:rPr>
              <a:t> minutes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quickly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escalates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multi-hour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network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gridlock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due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to </a:t>
            </a:r>
            <a:r>
              <a:rPr dirty="0" sz="900" spc="-20">
                <a:latin typeface="Arial"/>
                <a:cs typeface="Arial"/>
              </a:rPr>
              <a:t>manual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dispatching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lack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real-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predictive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insights.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0">
                <a:latin typeface="Arial Black"/>
                <a:cs typeface="Arial Black"/>
              </a:rPr>
              <a:t>Problem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Understanding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2680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188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1087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33911"/>
            <a:ext cx="3821429" cy="18307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00">
                <a:latin typeface="Arial"/>
                <a:cs typeface="Arial"/>
              </a:rPr>
              <a:t>Who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experiences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problem?</a:t>
            </a:r>
            <a:endParaRPr sz="900">
              <a:latin typeface="Arial"/>
              <a:cs typeface="Arial"/>
            </a:endParaRPr>
          </a:p>
          <a:p>
            <a:pPr marL="12700" marR="469265">
              <a:lnSpc>
                <a:spcPct val="113100"/>
              </a:lnSpc>
            </a:pPr>
            <a:r>
              <a:rPr dirty="0" sz="900" spc="-30">
                <a:latin typeface="Arial"/>
                <a:cs typeface="Arial"/>
              </a:rPr>
              <a:t>Railway</a:t>
            </a:r>
            <a:r>
              <a:rPr dirty="0" sz="900">
                <a:latin typeface="Arial"/>
                <a:cs typeface="Arial"/>
              </a:rPr>
              <a:t> traffic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controllers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section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dispatchers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handling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live </a:t>
            </a:r>
            <a:r>
              <a:rPr dirty="0" sz="900" spc="-20">
                <a:latin typeface="Arial"/>
                <a:cs typeface="Arial"/>
              </a:rPr>
              <a:t>train </a:t>
            </a:r>
            <a:r>
              <a:rPr dirty="0" sz="900" spc="-30">
                <a:latin typeface="Arial"/>
                <a:cs typeface="Arial"/>
              </a:rPr>
              <a:t>movements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under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extreme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operational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pressure.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What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70">
                <a:latin typeface="Arial"/>
                <a:cs typeface="Arial"/>
              </a:rPr>
              <a:t>causes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problem?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dirty="0" sz="900" spc="-30">
                <a:latin typeface="Arial"/>
                <a:cs typeface="Arial"/>
              </a:rPr>
              <a:t>Heavy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reliance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manual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decision-</a:t>
            </a:r>
            <a:r>
              <a:rPr dirty="0" sz="900" spc="-25">
                <a:latin typeface="Arial"/>
                <a:cs typeface="Arial"/>
              </a:rPr>
              <a:t>making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static,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rigid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schedules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fail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calculate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optimal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real-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rerouting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siding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holds.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latin typeface="Arial"/>
                <a:cs typeface="Arial"/>
              </a:rPr>
              <a:t>How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does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affect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users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stakeholders?</a:t>
            </a:r>
            <a:endParaRPr sz="900">
              <a:latin typeface="Arial"/>
              <a:cs typeface="Arial"/>
            </a:endParaRPr>
          </a:p>
          <a:p>
            <a:pPr marL="12700" marR="48895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minor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5-</a:t>
            </a:r>
            <a:r>
              <a:rPr dirty="0" sz="900">
                <a:latin typeface="Arial"/>
                <a:cs typeface="Arial"/>
              </a:rPr>
              <a:t>minute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delay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escalates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into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multi-hour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network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gridlock,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leading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heavy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fuel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waste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from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idling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severely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missed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freight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delivery deadlines.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Existing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70">
                <a:latin typeface="Arial Black"/>
                <a:cs typeface="Arial Black"/>
              </a:rPr>
              <a:t>Gaps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20">
                <a:latin typeface="Arial Black"/>
                <a:cs typeface="Arial Black"/>
              </a:rPr>
              <a:t> </a:t>
            </a:r>
            <a:r>
              <a:rPr dirty="0" sz="1100" spc="-130">
                <a:latin typeface="Arial Black"/>
                <a:cs typeface="Arial Black"/>
              </a:rPr>
              <a:t>Challenges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179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66514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5718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25046"/>
            <a:ext cx="3789679" cy="18307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00" spc="-10">
                <a:latin typeface="Arial"/>
                <a:cs typeface="Arial"/>
              </a:rPr>
              <a:t>Existing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gap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limitation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1:</a:t>
            </a:r>
            <a:endParaRPr sz="900">
              <a:latin typeface="Arial"/>
              <a:cs typeface="Arial"/>
            </a:endParaRPr>
          </a:p>
          <a:p>
            <a:pPr marL="12700" marR="116839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Total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absence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30-</a:t>
            </a:r>
            <a:r>
              <a:rPr dirty="0" sz="900" spc="-10">
                <a:latin typeface="Arial"/>
                <a:cs typeface="Arial"/>
              </a:rPr>
              <a:t>minute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predictive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look-ahead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system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seamlessly </a:t>
            </a:r>
            <a:r>
              <a:rPr dirty="0" sz="900" spc="-20">
                <a:latin typeface="Arial"/>
                <a:cs typeface="Arial"/>
              </a:rPr>
              <a:t>factors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track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switch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changeover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times,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safety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margins,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siding availabilities</a:t>
            </a:r>
            <a:r>
              <a:rPr dirty="0" sz="900" spc="-5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simultaneously.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Existing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gap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limitation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2:</a:t>
            </a:r>
            <a:endParaRPr sz="900">
              <a:latin typeface="Arial"/>
              <a:cs typeface="Arial"/>
            </a:endParaRPr>
          </a:p>
          <a:p>
            <a:pPr marL="12700" marR="133350">
              <a:lnSpc>
                <a:spcPct val="113100"/>
              </a:lnSpc>
            </a:pPr>
            <a:r>
              <a:rPr dirty="0" sz="900" spc="-10">
                <a:latin typeface="Arial"/>
                <a:cs typeface="Arial"/>
              </a:rPr>
              <a:t>Outdated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manual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dispatching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boards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force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long,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inefficient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30-</a:t>
            </a:r>
            <a:r>
              <a:rPr dirty="0" sz="900" spc="-10">
                <a:latin typeface="Arial"/>
                <a:cs typeface="Arial"/>
              </a:rPr>
              <a:t>minute </a:t>
            </a:r>
            <a:r>
              <a:rPr dirty="0" sz="900" spc="-20">
                <a:latin typeface="Arial"/>
                <a:cs typeface="Arial"/>
              </a:rPr>
              <a:t>detours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instead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quick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8-</a:t>
            </a:r>
            <a:r>
              <a:rPr dirty="0" sz="900">
                <a:latin typeface="Arial"/>
                <a:cs typeface="Arial"/>
              </a:rPr>
              <a:t>minute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siding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holds.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Arial"/>
                <a:cs typeface="Arial"/>
              </a:rPr>
              <a:t>Main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challenge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remains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unsolved: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dirty="0" sz="900" spc="-20">
                <a:latin typeface="Arial"/>
                <a:cs typeface="Arial"/>
              </a:rPr>
              <a:t>Balancing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mixed-</a:t>
            </a:r>
            <a:r>
              <a:rPr dirty="0" sz="900" spc="-40">
                <a:latin typeface="Arial"/>
                <a:cs typeface="Arial"/>
              </a:rPr>
              <a:t>speed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traffic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(high-</a:t>
            </a:r>
            <a:r>
              <a:rPr dirty="0" sz="900" spc="-55">
                <a:latin typeface="Arial"/>
                <a:cs typeface="Arial"/>
              </a:rPr>
              <a:t>speed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passenger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vs.</a:t>
            </a:r>
            <a:r>
              <a:rPr dirty="0" sz="900" spc="10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heavy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freight)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real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time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without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causing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system-</a:t>
            </a:r>
            <a:r>
              <a:rPr dirty="0" sz="900" spc="-20">
                <a:latin typeface="Arial"/>
                <a:cs typeface="Arial"/>
              </a:rPr>
              <a:t>wide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cascading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delays.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0">
                <a:latin typeface="Arial Black"/>
                <a:cs typeface="Arial Black"/>
              </a:rPr>
              <a:t>Our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35">
                <a:latin typeface="Arial Black"/>
                <a:cs typeface="Arial Black"/>
              </a:rPr>
              <a:t>Proposed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Solution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1794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0997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5718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25046"/>
            <a:ext cx="3820795" cy="18307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00" spc="-45">
                <a:latin typeface="Arial"/>
                <a:cs typeface="Arial"/>
              </a:rPr>
              <a:t>Core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idea</a:t>
            </a:r>
            <a:r>
              <a:rPr dirty="0" sz="900">
                <a:latin typeface="Arial"/>
                <a:cs typeface="Arial"/>
              </a:rPr>
              <a:t> or </a:t>
            </a:r>
            <a:r>
              <a:rPr dirty="0" sz="900" spc="-10">
                <a:latin typeface="Arial"/>
                <a:cs typeface="Arial"/>
              </a:rPr>
              <a:t>product:</a:t>
            </a:r>
            <a:endParaRPr sz="900">
              <a:latin typeface="Arial"/>
              <a:cs typeface="Arial"/>
            </a:endParaRPr>
          </a:p>
          <a:p>
            <a:pPr marL="12700" marR="33655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An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AI-</a:t>
            </a:r>
            <a:r>
              <a:rPr dirty="0" sz="900">
                <a:latin typeface="Arial"/>
                <a:cs typeface="Arial"/>
              </a:rPr>
              <a:t>driven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intelligent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co-</a:t>
            </a:r>
            <a:r>
              <a:rPr dirty="0" sz="900">
                <a:latin typeface="Arial"/>
                <a:cs typeface="Arial"/>
              </a:rPr>
              <a:t>pilot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traffic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engine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heavy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railways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utilizing </a:t>
            </a:r>
            <a:r>
              <a:rPr dirty="0" sz="900" spc="-20">
                <a:latin typeface="Arial"/>
                <a:cs typeface="Arial"/>
              </a:rPr>
              <a:t>graph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theory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multi-</a:t>
            </a:r>
            <a:r>
              <a:rPr dirty="0" sz="900" spc="-10">
                <a:latin typeface="Arial"/>
                <a:cs typeface="Arial"/>
              </a:rPr>
              <a:t>objective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optimization.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Arial"/>
                <a:cs typeface="Arial"/>
              </a:rPr>
              <a:t>How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solution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works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at a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high </a:t>
            </a:r>
            <a:r>
              <a:rPr dirty="0" sz="900" spc="-10">
                <a:latin typeface="Arial"/>
                <a:cs typeface="Arial"/>
              </a:rPr>
              <a:t>level: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ingests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live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rail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feeds,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models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track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networks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as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dynamic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graphs,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runs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dirty="0" sz="900" spc="-20">
                <a:latin typeface="Arial"/>
                <a:cs typeface="Arial"/>
              </a:rPr>
              <a:t>multi-</a:t>
            </a:r>
            <a:r>
              <a:rPr dirty="0" sz="900" spc="-10">
                <a:latin typeface="Arial"/>
                <a:cs typeface="Arial"/>
              </a:rPr>
              <a:t>objective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constraint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solvers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predict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bottlenecks,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presents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optimal </a:t>
            </a:r>
            <a:r>
              <a:rPr dirty="0" sz="900">
                <a:latin typeface="Arial"/>
                <a:cs typeface="Arial"/>
              </a:rPr>
              <a:t>routing</a:t>
            </a:r>
            <a:r>
              <a:rPr dirty="0" sz="900" spc="5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recommendations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controllers.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Main</a:t>
            </a:r>
            <a:r>
              <a:rPr dirty="0" sz="900" spc="3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value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delivered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users:</a:t>
            </a:r>
            <a:endParaRPr sz="900">
              <a:latin typeface="Arial"/>
              <a:cs typeface="Arial"/>
            </a:endParaRPr>
          </a:p>
          <a:p>
            <a:pPr marL="12700" marR="143510">
              <a:lnSpc>
                <a:spcPct val="113100"/>
              </a:lnSpc>
            </a:pPr>
            <a:r>
              <a:rPr dirty="0" sz="900" spc="-65">
                <a:latin typeface="Arial"/>
                <a:cs typeface="Arial"/>
              </a:rPr>
              <a:t>Slashes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delay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propagation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43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percent,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completely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eliminates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single-</a:t>
            </a:r>
            <a:r>
              <a:rPr dirty="0" sz="900" spc="-20">
                <a:latin typeface="Arial"/>
                <a:cs typeface="Arial"/>
              </a:rPr>
              <a:t>line </a:t>
            </a:r>
            <a:r>
              <a:rPr dirty="0" sz="900" spc="-35">
                <a:latin typeface="Arial"/>
                <a:cs typeface="Arial"/>
              </a:rPr>
              <a:t>deadlocks,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drastically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reduces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fuel </a:t>
            </a:r>
            <a:r>
              <a:rPr dirty="0" sz="900" spc="-35">
                <a:latin typeface="Arial"/>
                <a:cs typeface="Arial"/>
              </a:rPr>
              <a:t>waste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from </a:t>
            </a:r>
            <a:r>
              <a:rPr dirty="0" sz="900" spc="-55">
                <a:latin typeface="Arial"/>
                <a:cs typeface="Arial"/>
              </a:rPr>
              <a:t>unnecessary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idling.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5">
                <a:latin typeface="Arial Black"/>
                <a:cs typeface="Arial Black"/>
              </a:rPr>
              <a:t>Technical</a:t>
            </a:r>
            <a:r>
              <a:rPr dirty="0" sz="1100" spc="80">
                <a:latin typeface="Arial Black"/>
                <a:cs typeface="Arial Black"/>
              </a:rPr>
              <a:t> </a:t>
            </a:r>
            <a:r>
              <a:rPr dirty="0" sz="1100" spc="-120">
                <a:latin typeface="Arial Black"/>
                <a:cs typeface="Arial Black"/>
              </a:rPr>
              <a:t>Approach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4866" y="526046"/>
            <a:ext cx="1897951" cy="10981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9648" y="1900021"/>
            <a:ext cx="3729990" cy="4191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800" spc="-80">
                <a:solidFill>
                  <a:srgbClr val="226846"/>
                </a:solidFill>
                <a:latin typeface="Arial Black"/>
                <a:cs typeface="Arial Black"/>
              </a:rPr>
              <a:t>Figure:</a:t>
            </a:r>
            <a:r>
              <a:rPr dirty="0" sz="800" spc="10">
                <a:solidFill>
                  <a:srgbClr val="226846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latin typeface="Arial"/>
                <a:cs typeface="Arial"/>
              </a:rPr>
              <a:t>RailSync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System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Architecture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Flow</a:t>
            </a:r>
            <a:endParaRPr sz="800">
              <a:latin typeface="Arial"/>
              <a:cs typeface="Arial"/>
            </a:endParaRPr>
          </a:p>
          <a:p>
            <a:pPr algn="ctr" marL="12700" marR="5080" indent="-1270">
              <a:lnSpc>
                <a:spcPct val="104600"/>
              </a:lnSpc>
              <a:spcBef>
                <a:spcPts val="45"/>
              </a:spcBef>
            </a:pPr>
            <a:r>
              <a:rPr dirty="0" sz="800">
                <a:latin typeface="Arial"/>
                <a:cs typeface="Arial"/>
              </a:rPr>
              <a:t>*Real-time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telemetry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feeds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into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NetworkX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graph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model.</a:t>
            </a:r>
            <a:r>
              <a:rPr dirty="0" sz="800" spc="1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OR-</a:t>
            </a:r>
            <a:r>
              <a:rPr dirty="0" sz="800" spc="-10">
                <a:latin typeface="Arial"/>
                <a:cs typeface="Arial"/>
              </a:rPr>
              <a:t>Tools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engine </a:t>
            </a:r>
            <a:r>
              <a:rPr dirty="0" sz="800" spc="-30">
                <a:latin typeface="Arial"/>
                <a:cs typeface="Arial"/>
              </a:rPr>
              <a:t>resolves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conflicts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sends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optimal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routing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decisions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dispatcher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dashboard.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189" y="2377363"/>
            <a:ext cx="3917950" cy="916305"/>
          </a:xfrm>
          <a:custGeom>
            <a:avLst/>
            <a:gdLst/>
            <a:ahLst/>
            <a:cxnLst/>
            <a:rect l="l" t="t" r="r" b="b"/>
            <a:pathLst>
              <a:path w="3917950" h="916304">
                <a:moveTo>
                  <a:pt x="3917658" y="44424"/>
                </a:moveTo>
                <a:lnTo>
                  <a:pt x="3916362" y="44424"/>
                </a:lnTo>
                <a:lnTo>
                  <a:pt x="3913657" y="31076"/>
                </a:lnTo>
                <a:lnTo>
                  <a:pt x="3902735" y="14922"/>
                </a:lnTo>
                <a:lnTo>
                  <a:pt x="3886593" y="4013"/>
                </a:lnTo>
                <a:lnTo>
                  <a:pt x="3866858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865251"/>
                </a:lnTo>
                <a:lnTo>
                  <a:pt x="4013" y="884986"/>
                </a:lnTo>
                <a:lnTo>
                  <a:pt x="14922" y="901141"/>
                </a:lnTo>
                <a:lnTo>
                  <a:pt x="31076" y="912050"/>
                </a:lnTo>
                <a:lnTo>
                  <a:pt x="50812" y="916063"/>
                </a:lnTo>
                <a:lnTo>
                  <a:pt x="3866858" y="916063"/>
                </a:lnTo>
                <a:lnTo>
                  <a:pt x="3886593" y="912050"/>
                </a:lnTo>
                <a:lnTo>
                  <a:pt x="3902735" y="901141"/>
                </a:lnTo>
                <a:lnTo>
                  <a:pt x="3913657" y="884986"/>
                </a:lnTo>
                <a:lnTo>
                  <a:pt x="3917658" y="865251"/>
                </a:lnTo>
                <a:lnTo>
                  <a:pt x="3917658" y="82384"/>
                </a:lnTo>
                <a:lnTo>
                  <a:pt x="3917658" y="50800"/>
                </a:lnTo>
                <a:lnTo>
                  <a:pt x="3917658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83298" y="2458987"/>
            <a:ext cx="1071880" cy="58547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800" spc="-114">
                <a:latin typeface="Arial Black"/>
                <a:cs typeface="Arial Black"/>
              </a:rPr>
              <a:t>Tech</a:t>
            </a:r>
            <a:r>
              <a:rPr dirty="0" sz="800" spc="40">
                <a:latin typeface="Arial Black"/>
                <a:cs typeface="Arial Black"/>
              </a:rPr>
              <a:t> </a:t>
            </a:r>
            <a:r>
              <a:rPr dirty="0" sz="800" spc="-10">
                <a:latin typeface="Arial Black"/>
                <a:cs typeface="Arial Black"/>
              </a:rPr>
              <a:t>Stack</a:t>
            </a:r>
            <a:endParaRPr sz="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75">
                <a:latin typeface="Arial Black"/>
                <a:cs typeface="Arial Black"/>
              </a:rPr>
              <a:t>Frontend:</a:t>
            </a:r>
            <a:r>
              <a:rPr dirty="0" sz="800" spc="15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React,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D3.js</a:t>
            </a:r>
            <a:endParaRPr sz="800">
              <a:latin typeface="Arial"/>
              <a:cs typeface="Arial"/>
            </a:endParaRPr>
          </a:p>
          <a:p>
            <a:pPr marL="12700" marR="261620">
              <a:lnSpc>
                <a:spcPct val="104600"/>
              </a:lnSpc>
              <a:spcBef>
                <a:spcPts val="229"/>
              </a:spcBef>
            </a:pPr>
            <a:r>
              <a:rPr dirty="0" sz="800" spc="-65">
                <a:latin typeface="Arial Black"/>
                <a:cs typeface="Arial Black"/>
              </a:rPr>
              <a:t>Backend:</a:t>
            </a:r>
            <a:r>
              <a:rPr dirty="0" sz="800" spc="-65">
                <a:latin typeface="Arial"/>
                <a:cs typeface="Arial"/>
              </a:rPr>
              <a:t>Node.js,</a:t>
            </a:r>
            <a:r>
              <a:rPr dirty="0" sz="800" spc="-10">
                <a:latin typeface="Arial"/>
                <a:cs typeface="Arial"/>
              </a:rPr>
              <a:t> Python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3612" y="2578519"/>
            <a:ext cx="2242820" cy="59372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370"/>
              </a:spcBef>
            </a:pPr>
            <a:r>
              <a:rPr dirty="0" sz="800" spc="-85">
                <a:latin typeface="Arial Black"/>
                <a:cs typeface="Arial Black"/>
              </a:rPr>
              <a:t>Database:</a:t>
            </a:r>
            <a:r>
              <a:rPr dirty="0" sz="800" spc="35">
                <a:latin typeface="Arial Black"/>
                <a:cs typeface="Arial Black"/>
              </a:rPr>
              <a:t> </a:t>
            </a:r>
            <a:r>
              <a:rPr dirty="0" sz="800" spc="-10">
                <a:latin typeface="Arial"/>
                <a:cs typeface="Arial"/>
              </a:rPr>
              <a:t>PostgreSQL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ct val="104600"/>
              </a:lnSpc>
              <a:spcBef>
                <a:spcPts val="225"/>
              </a:spcBef>
            </a:pPr>
            <a:r>
              <a:rPr dirty="0" sz="800">
                <a:latin typeface="Arial Black"/>
                <a:cs typeface="Arial Black"/>
              </a:rPr>
              <a:t>AI/ML, APIs, or </a:t>
            </a:r>
            <a:r>
              <a:rPr dirty="0" sz="800" spc="-35">
                <a:latin typeface="Arial Black"/>
                <a:cs typeface="Arial Black"/>
              </a:rPr>
              <a:t>Hardware:</a:t>
            </a:r>
            <a:r>
              <a:rPr dirty="0" sz="800" spc="275">
                <a:latin typeface="Arial Black"/>
                <a:cs typeface="Arial Black"/>
              </a:rPr>
              <a:t> </a:t>
            </a:r>
            <a:r>
              <a:rPr dirty="0" sz="800">
                <a:latin typeface="Arial"/>
                <a:cs typeface="Arial"/>
              </a:rPr>
              <a:t>OR-Tools, </a:t>
            </a:r>
            <a:r>
              <a:rPr dirty="0" sz="800" spc="-20">
                <a:latin typeface="Arial"/>
                <a:cs typeface="Arial"/>
              </a:rPr>
              <a:t>Net-</a:t>
            </a:r>
            <a:r>
              <a:rPr dirty="0" sz="800">
                <a:latin typeface="Arial"/>
                <a:cs typeface="Arial"/>
              </a:rPr>
              <a:t>workX,</a:t>
            </a:r>
            <a:r>
              <a:rPr dirty="0" sz="800" spc="3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High-</a:t>
            </a:r>
            <a:r>
              <a:rPr dirty="0" sz="800">
                <a:latin typeface="Arial"/>
                <a:cs typeface="Arial"/>
              </a:rPr>
              <a:t>availability</a:t>
            </a:r>
            <a:r>
              <a:rPr dirty="0" sz="800" spc="3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cloud</a:t>
            </a:r>
            <a:r>
              <a:rPr dirty="0" sz="800" spc="3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cluster</a:t>
            </a:r>
            <a:r>
              <a:rPr dirty="0" sz="800" spc="36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36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edge </a:t>
            </a:r>
            <a:r>
              <a:rPr dirty="0" sz="800" spc="-10">
                <a:latin typeface="Arial"/>
                <a:cs typeface="Arial"/>
              </a:rPr>
              <a:t>servers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latin typeface="Arial Black"/>
                <a:cs typeface="Arial Black"/>
              </a:rPr>
              <a:t>Innovation</a:t>
            </a:r>
            <a:r>
              <a:rPr dirty="0" sz="1100" spc="25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5">
                <a:latin typeface="Arial Black"/>
                <a:cs typeface="Arial Black"/>
              </a:rPr>
              <a:t> </a:t>
            </a:r>
            <a:r>
              <a:rPr dirty="0" sz="1100" spc="-145">
                <a:latin typeface="Arial Black"/>
                <a:cs typeface="Arial Black"/>
              </a:rPr>
              <a:t>Uniqueness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85587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60308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35028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762981"/>
            <a:ext cx="3808729" cy="198564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240"/>
              </a:spcBef>
            </a:pPr>
            <a:r>
              <a:rPr dirty="0" sz="900">
                <a:latin typeface="Arial"/>
                <a:cs typeface="Arial"/>
              </a:rPr>
              <a:t>What is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new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different?</a:t>
            </a:r>
            <a:endParaRPr sz="900">
              <a:latin typeface="Arial"/>
              <a:cs typeface="Arial"/>
            </a:endParaRPr>
          </a:p>
          <a:p>
            <a:pPr algn="just" marL="12700" marR="5080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It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acts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as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interactive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AI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co-</a:t>
            </a:r>
            <a:r>
              <a:rPr dirty="0" sz="900">
                <a:latin typeface="Arial"/>
                <a:cs typeface="Arial"/>
              </a:rPr>
              <a:t>pilot</a:t>
            </a:r>
            <a:r>
              <a:rPr dirty="0" sz="900" spc="4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dynamically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calculates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time-</a:t>
            </a:r>
            <a:r>
              <a:rPr dirty="0" sz="900" spc="-10">
                <a:latin typeface="Arial"/>
                <a:cs typeface="Arial"/>
              </a:rPr>
              <a:t>tradeoffs </a:t>
            </a:r>
            <a:r>
              <a:rPr dirty="0" sz="900">
                <a:latin typeface="Arial"/>
                <a:cs typeface="Arial"/>
              </a:rPr>
              <a:t>(e.g.,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8-</a:t>
            </a:r>
            <a:r>
              <a:rPr dirty="0" sz="900">
                <a:latin typeface="Arial"/>
                <a:cs typeface="Arial"/>
              </a:rPr>
              <a:t>minute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siding </a:t>
            </a:r>
            <a:r>
              <a:rPr dirty="0" sz="900">
                <a:latin typeface="Arial"/>
                <a:cs typeface="Arial"/>
              </a:rPr>
              <a:t>hold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vs.</a:t>
            </a:r>
            <a:r>
              <a:rPr dirty="0" sz="900" spc="5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30-</a:t>
            </a:r>
            <a:r>
              <a:rPr dirty="0" sz="900" spc="-10">
                <a:latin typeface="Arial"/>
                <a:cs typeface="Arial"/>
              </a:rPr>
              <a:t>minute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detour)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rather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than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enforcing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rigid, </a:t>
            </a:r>
            <a:r>
              <a:rPr dirty="0" sz="900">
                <a:latin typeface="Arial"/>
                <a:cs typeface="Arial"/>
              </a:rPr>
              <a:t>static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rules.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latin typeface="Arial"/>
                <a:cs typeface="Arial"/>
              </a:rPr>
              <a:t>Why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this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approach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suited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problem?</a:t>
            </a:r>
            <a:endParaRPr sz="900">
              <a:latin typeface="Arial"/>
              <a:cs typeface="Arial"/>
            </a:endParaRPr>
          </a:p>
          <a:p>
            <a:pPr marL="12700" marR="229870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Rail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networks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are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dynamic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systems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of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interconnected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nodes;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graph-</a:t>
            </a:r>
            <a:r>
              <a:rPr dirty="0" sz="900" spc="-10">
                <a:latin typeface="Arial"/>
                <a:cs typeface="Arial"/>
              </a:rPr>
              <a:t>based </a:t>
            </a:r>
            <a:r>
              <a:rPr dirty="0" sz="900" spc="-20">
                <a:latin typeface="Arial"/>
                <a:cs typeface="Arial"/>
              </a:rPr>
              <a:t>modeling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constraint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programming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map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natively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track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switches, </a:t>
            </a:r>
            <a:r>
              <a:rPr dirty="0" sz="900" spc="-30">
                <a:latin typeface="Arial"/>
                <a:cs typeface="Arial"/>
              </a:rPr>
              <a:t>sidings,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physics.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>
                <a:latin typeface="Arial"/>
                <a:cs typeface="Arial"/>
              </a:rPr>
              <a:t>What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key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differentiator?</a:t>
            </a:r>
            <a:endParaRPr sz="900">
              <a:latin typeface="Arial"/>
              <a:cs typeface="Arial"/>
            </a:endParaRPr>
          </a:p>
          <a:p>
            <a:pPr marL="12700" marR="217804">
              <a:lnSpc>
                <a:spcPct val="113100"/>
              </a:lnSpc>
            </a:pPr>
            <a:r>
              <a:rPr dirty="0" sz="900">
                <a:latin typeface="Arial"/>
                <a:cs typeface="Arial"/>
              </a:rPr>
              <a:t>Holistic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multi-</a:t>
            </a:r>
            <a:r>
              <a:rPr dirty="0" sz="900" spc="-10">
                <a:latin typeface="Arial"/>
                <a:cs typeface="Arial"/>
              </a:rPr>
              <a:t>objective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optimization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that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balances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passenger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punctuality, </a:t>
            </a:r>
            <a:r>
              <a:rPr dirty="0" sz="900">
                <a:latin typeface="Arial"/>
                <a:cs typeface="Arial"/>
              </a:rPr>
              <a:t>freight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throughput,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fuel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conservation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simultaneously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time.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35">
                <a:latin typeface="Arial Black"/>
                <a:cs typeface="Arial Black"/>
              </a:rPr>
              <a:t>Feasibility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>
                <a:latin typeface="Arial Black"/>
                <a:cs typeface="Arial Black"/>
              </a:rPr>
              <a:t>&amp;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14">
                <a:latin typeface="Arial Black"/>
                <a:cs typeface="Arial Black"/>
              </a:rPr>
              <a:t>Scalability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00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720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640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87098"/>
            <a:ext cx="3723004" cy="1675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100"/>
              </a:lnSpc>
              <a:spcBef>
                <a:spcPts val="100"/>
              </a:spcBef>
            </a:pPr>
            <a:r>
              <a:rPr dirty="0" sz="900" spc="-95">
                <a:latin typeface="Arial Black"/>
                <a:cs typeface="Arial Black"/>
              </a:rPr>
              <a:t>Feasibility:</a:t>
            </a:r>
            <a:r>
              <a:rPr dirty="0" sz="900" spc="8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Built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using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mature,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production-</a:t>
            </a:r>
            <a:r>
              <a:rPr dirty="0" sz="900" spc="-30">
                <a:latin typeface="Arial"/>
                <a:cs typeface="Arial"/>
              </a:rPr>
              <a:t>proven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optimization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frameworks </a:t>
            </a:r>
            <a:r>
              <a:rPr dirty="0" sz="900" spc="-25">
                <a:latin typeface="Arial"/>
                <a:cs typeface="Arial"/>
              </a:rPr>
              <a:t>(Google</a:t>
            </a:r>
            <a:r>
              <a:rPr dirty="0" sz="900" spc="-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OR-</a:t>
            </a:r>
            <a:r>
              <a:rPr dirty="0" sz="900" spc="-25">
                <a:latin typeface="Arial"/>
                <a:cs typeface="Arial"/>
              </a:rPr>
              <a:t>Tools,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NetworkX)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standard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enterprise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web</a:t>
            </a:r>
            <a:r>
              <a:rPr dirty="0" sz="900" spc="-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technologies </a:t>
            </a:r>
            <a:r>
              <a:rPr dirty="0" sz="900" spc="-50">
                <a:latin typeface="Arial"/>
                <a:cs typeface="Arial"/>
              </a:rPr>
              <a:t>designed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integrate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with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existing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railway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telemetry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feeds.</a:t>
            </a:r>
            <a:endParaRPr sz="900">
              <a:latin typeface="Arial"/>
              <a:cs typeface="Arial"/>
            </a:endParaRPr>
          </a:p>
          <a:p>
            <a:pPr algn="just" marL="12700" marR="133350">
              <a:lnSpc>
                <a:spcPct val="113100"/>
              </a:lnSpc>
              <a:spcBef>
                <a:spcPts val="994"/>
              </a:spcBef>
            </a:pPr>
            <a:r>
              <a:rPr dirty="0" sz="900" spc="-95">
                <a:latin typeface="Arial Black"/>
                <a:cs typeface="Arial Black"/>
              </a:rPr>
              <a:t>Scalability:</a:t>
            </a:r>
            <a:r>
              <a:rPr dirty="0" sz="900" spc="60">
                <a:latin typeface="Arial Black"/>
                <a:cs typeface="Arial Black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graph-</a:t>
            </a:r>
            <a:r>
              <a:rPr dirty="0" sz="900" spc="-40">
                <a:latin typeface="Arial"/>
                <a:cs typeface="Arial"/>
              </a:rPr>
              <a:t>based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architecture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allows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seamless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scaling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new </a:t>
            </a:r>
            <a:r>
              <a:rPr dirty="0" sz="900" spc="-20">
                <a:latin typeface="Arial"/>
                <a:cs typeface="Arial"/>
              </a:rPr>
              <a:t>railway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55">
                <a:latin typeface="Arial"/>
                <a:cs typeface="Arial"/>
              </a:rPr>
              <a:t>zones,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multi-track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corridors,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and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dedicated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freight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lines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simply </a:t>
            </a:r>
            <a:r>
              <a:rPr dirty="0" sz="900" spc="-30">
                <a:latin typeface="Arial"/>
                <a:cs typeface="Arial"/>
              </a:rPr>
              <a:t>expanding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node-</a:t>
            </a:r>
            <a:r>
              <a:rPr dirty="0" sz="900" spc="-40">
                <a:latin typeface="Arial"/>
                <a:cs typeface="Arial"/>
              </a:rPr>
              <a:t>edge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definitions.</a:t>
            </a:r>
            <a:endParaRPr sz="900">
              <a:latin typeface="Arial"/>
              <a:cs typeface="Arial"/>
            </a:endParaRPr>
          </a:p>
          <a:p>
            <a:pPr marL="12700" marR="154305">
              <a:lnSpc>
                <a:spcPct val="113100"/>
              </a:lnSpc>
              <a:spcBef>
                <a:spcPts val="1000"/>
              </a:spcBef>
            </a:pPr>
            <a:r>
              <a:rPr dirty="0" sz="900" spc="-110">
                <a:latin typeface="Arial Black"/>
                <a:cs typeface="Arial Black"/>
              </a:rPr>
              <a:t>Risks:</a:t>
            </a:r>
            <a:r>
              <a:rPr dirty="0" sz="900" spc="45">
                <a:latin typeface="Arial Black"/>
                <a:cs typeface="Arial Black"/>
              </a:rPr>
              <a:t> </a:t>
            </a:r>
            <a:r>
              <a:rPr dirty="0" sz="900" spc="-10">
                <a:latin typeface="Arial"/>
                <a:cs typeface="Arial"/>
              </a:rPr>
              <a:t>Handling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intermittent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telemetry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drops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40">
                <a:latin typeface="Arial"/>
                <a:cs typeface="Arial"/>
              </a:rPr>
              <a:t>hardware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latency; </a:t>
            </a:r>
            <a:r>
              <a:rPr dirty="0" sz="900">
                <a:latin typeface="Arial"/>
                <a:cs typeface="Arial"/>
              </a:rPr>
              <a:t>Mitigated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deploying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high-availability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60">
                <a:latin typeface="Arial"/>
                <a:cs typeface="Arial"/>
              </a:rPr>
              <a:t>edge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servers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at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divisional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 </a:t>
            </a:r>
            <a:r>
              <a:rPr dirty="0" sz="900" spc="-30">
                <a:latin typeface="Arial"/>
                <a:cs typeface="Arial"/>
              </a:rPr>
              <a:t>centers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for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resilient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local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offline-</a:t>
            </a:r>
            <a:r>
              <a:rPr dirty="0" sz="900">
                <a:latin typeface="Arial"/>
                <a:cs typeface="Arial"/>
              </a:rPr>
              <a:t>first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computing.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Arial Black"/>
                <a:cs typeface="Arial Black"/>
              </a:rPr>
              <a:t>Cost</a:t>
            </a:r>
            <a:r>
              <a:rPr dirty="0" sz="1100" spc="3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for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110">
                <a:latin typeface="Arial Black"/>
                <a:cs typeface="Arial Black"/>
              </a:rPr>
              <a:t>Product</a:t>
            </a:r>
            <a:r>
              <a:rPr dirty="0" sz="1100" spc="40">
                <a:latin typeface="Arial Black"/>
                <a:cs typeface="Arial Black"/>
              </a:rPr>
              <a:t> </a:t>
            </a:r>
            <a:r>
              <a:rPr dirty="0" sz="1100" spc="-70">
                <a:latin typeface="Arial Black"/>
                <a:cs typeface="Arial Black"/>
              </a:rPr>
              <a:t>(Optional)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11041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4101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197788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4185" rIns="0" bIns="0" rtlCol="0" vert="horz">
            <a:spAutoFit/>
          </a:bodyPr>
          <a:lstStyle/>
          <a:p>
            <a:pPr marL="12700" marR="330200">
              <a:lnSpc>
                <a:spcPct val="113100"/>
              </a:lnSpc>
              <a:spcBef>
                <a:spcPts val="100"/>
              </a:spcBef>
            </a:pPr>
            <a:r>
              <a:rPr dirty="0" spc="-25"/>
              <a:t>Development</a:t>
            </a:r>
            <a:r>
              <a:rPr dirty="0"/>
              <a:t> or</a:t>
            </a:r>
            <a:r>
              <a:rPr dirty="0" spc="5"/>
              <a:t> </a:t>
            </a:r>
            <a:r>
              <a:rPr dirty="0" spc="-40"/>
              <a:t>hardware</a:t>
            </a:r>
            <a:r>
              <a:rPr dirty="0" spc="5"/>
              <a:t> </a:t>
            </a:r>
            <a:r>
              <a:rPr dirty="0"/>
              <a:t>cost:</a:t>
            </a:r>
            <a:r>
              <a:rPr dirty="0" spc="85"/>
              <a:t> </a:t>
            </a:r>
            <a:r>
              <a:rPr dirty="0" spc="-10"/>
              <a:t>High-availability</a:t>
            </a:r>
            <a:r>
              <a:rPr dirty="0" spc="5"/>
              <a:t> </a:t>
            </a:r>
            <a:r>
              <a:rPr dirty="0" spc="-60"/>
              <a:t>edge</a:t>
            </a:r>
            <a:r>
              <a:rPr dirty="0" spc="5"/>
              <a:t> </a:t>
            </a:r>
            <a:r>
              <a:rPr dirty="0" spc="-45"/>
              <a:t>servers</a:t>
            </a:r>
            <a:r>
              <a:rPr dirty="0" spc="5"/>
              <a:t> </a:t>
            </a:r>
            <a:r>
              <a:rPr dirty="0"/>
              <a:t>or</a:t>
            </a:r>
            <a:r>
              <a:rPr dirty="0" spc="5"/>
              <a:t> </a:t>
            </a:r>
            <a:r>
              <a:rPr dirty="0" spc="-10"/>
              <a:t>cloud </a:t>
            </a:r>
            <a:r>
              <a:rPr dirty="0" spc="-20"/>
              <a:t>compute </a:t>
            </a:r>
            <a:r>
              <a:rPr dirty="0" spc="-10"/>
              <a:t>cluster</a:t>
            </a:r>
            <a:r>
              <a:rPr dirty="0" spc="-15"/>
              <a:t> </a:t>
            </a:r>
            <a:r>
              <a:rPr dirty="0" spc="-20"/>
              <a:t>setup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 spc="-25"/>
              <a:t>real-</a:t>
            </a:r>
            <a:r>
              <a:rPr dirty="0"/>
              <a:t>time</a:t>
            </a:r>
            <a:r>
              <a:rPr dirty="0" spc="-15"/>
              <a:t> </a:t>
            </a:r>
            <a:r>
              <a:rPr dirty="0"/>
              <a:t>optimization</a:t>
            </a:r>
            <a:r>
              <a:rPr dirty="0" spc="-15"/>
              <a:t> </a:t>
            </a:r>
            <a:r>
              <a:rPr dirty="0" spc="-10"/>
              <a:t>processing.</a:t>
            </a:r>
          </a:p>
          <a:p>
            <a:pPr marL="12700" marR="71120">
              <a:lnSpc>
                <a:spcPct val="113100"/>
              </a:lnSpc>
              <a:spcBef>
                <a:spcPts val="994"/>
              </a:spcBef>
            </a:pPr>
            <a:r>
              <a:rPr dirty="0" spc="-10"/>
              <a:t>Hosting</a:t>
            </a:r>
            <a:r>
              <a:rPr dirty="0" spc="-5"/>
              <a:t> </a:t>
            </a:r>
            <a:r>
              <a:rPr dirty="0"/>
              <a:t>or</a:t>
            </a:r>
            <a:r>
              <a:rPr dirty="0" spc="-5"/>
              <a:t> </a:t>
            </a:r>
            <a:r>
              <a:rPr dirty="0" spc="-35"/>
              <a:t>maintenance</a:t>
            </a:r>
            <a:r>
              <a:rPr dirty="0" spc="-5"/>
              <a:t> </a:t>
            </a:r>
            <a:r>
              <a:rPr dirty="0"/>
              <a:t>cost:</a:t>
            </a:r>
            <a:r>
              <a:rPr dirty="0" spc="75"/>
              <a:t> </a:t>
            </a:r>
            <a:r>
              <a:rPr dirty="0" spc="-25"/>
              <a:t>Continuous</a:t>
            </a:r>
            <a:r>
              <a:rPr dirty="0"/>
              <a:t> </a:t>
            </a:r>
            <a:r>
              <a:rPr dirty="0" spc="-10"/>
              <a:t>cloud</a:t>
            </a:r>
            <a:r>
              <a:rPr dirty="0" spc="-5"/>
              <a:t> </a:t>
            </a:r>
            <a:r>
              <a:rPr dirty="0" spc="-10"/>
              <a:t>infrastructure</a:t>
            </a:r>
            <a:r>
              <a:rPr dirty="0" spc="-5"/>
              <a:t> </a:t>
            </a:r>
            <a:r>
              <a:rPr dirty="0" spc="-10"/>
              <a:t>hosting,</a:t>
            </a:r>
            <a:r>
              <a:rPr dirty="0" spc="-5"/>
              <a:t> </a:t>
            </a:r>
            <a:r>
              <a:rPr dirty="0" spc="-25"/>
              <a:t>API </a:t>
            </a:r>
            <a:r>
              <a:rPr dirty="0" spc="-30"/>
              <a:t>maintenance,</a:t>
            </a:r>
            <a:r>
              <a:rPr dirty="0" spc="-15"/>
              <a:t> </a:t>
            </a:r>
            <a:r>
              <a:rPr dirty="0" spc="-10"/>
              <a:t>and</a:t>
            </a:r>
            <a:r>
              <a:rPr dirty="0" spc="-15"/>
              <a:t> </a:t>
            </a:r>
            <a:r>
              <a:rPr dirty="0"/>
              <a:t>algorithm</a:t>
            </a:r>
            <a:r>
              <a:rPr dirty="0" spc="-15"/>
              <a:t> </a:t>
            </a:r>
            <a:r>
              <a:rPr dirty="0" spc="-10"/>
              <a:t>refinement.</a:t>
            </a:r>
          </a:p>
          <a:p>
            <a:pPr marL="12700" marR="5080">
              <a:lnSpc>
                <a:spcPct val="113100"/>
              </a:lnSpc>
              <a:spcBef>
                <a:spcPts val="1000"/>
              </a:spcBef>
            </a:pPr>
            <a:r>
              <a:rPr dirty="0" spc="-20"/>
              <a:t>Estimated</a:t>
            </a:r>
            <a:r>
              <a:rPr dirty="0" spc="35"/>
              <a:t> </a:t>
            </a:r>
            <a:r>
              <a:rPr dirty="0"/>
              <a:t>total:</a:t>
            </a:r>
            <a:r>
              <a:rPr dirty="0" spc="130"/>
              <a:t> </a:t>
            </a:r>
            <a:r>
              <a:rPr dirty="0"/>
              <a:t>High</a:t>
            </a:r>
            <a:r>
              <a:rPr dirty="0" spc="35"/>
              <a:t> </a:t>
            </a:r>
            <a:r>
              <a:rPr dirty="0"/>
              <a:t>initial</a:t>
            </a:r>
            <a:r>
              <a:rPr dirty="0" spc="35"/>
              <a:t> </a:t>
            </a:r>
            <a:r>
              <a:rPr dirty="0" spc="-10"/>
              <a:t>operational</a:t>
            </a:r>
            <a:r>
              <a:rPr dirty="0" spc="35"/>
              <a:t> </a:t>
            </a:r>
            <a:r>
              <a:rPr dirty="0" spc="-20"/>
              <a:t>investment</a:t>
            </a:r>
            <a:r>
              <a:rPr dirty="0" spc="40"/>
              <a:t> </a:t>
            </a:r>
            <a:r>
              <a:rPr dirty="0" spc="-10"/>
              <a:t>offset</a:t>
            </a:r>
            <a:r>
              <a:rPr dirty="0" spc="35"/>
              <a:t> </a:t>
            </a:r>
            <a:r>
              <a:rPr dirty="0" spc="-45"/>
              <a:t>massively</a:t>
            </a:r>
            <a:r>
              <a:rPr dirty="0" spc="35"/>
              <a:t> </a:t>
            </a:r>
            <a:r>
              <a:rPr dirty="0" spc="-25"/>
              <a:t>by immediate</a:t>
            </a:r>
            <a:r>
              <a:rPr dirty="0" spc="-5"/>
              <a:t> </a:t>
            </a:r>
            <a:r>
              <a:rPr dirty="0"/>
              <a:t>ROI from </a:t>
            </a:r>
            <a:r>
              <a:rPr dirty="0" spc="-10"/>
              <a:t>multi-</a:t>
            </a:r>
            <a:r>
              <a:rPr dirty="0"/>
              <a:t>tonne fuel </a:t>
            </a:r>
            <a:r>
              <a:rPr dirty="0" spc="-40"/>
              <a:t>savings</a:t>
            </a:r>
            <a:r>
              <a:rPr dirty="0"/>
              <a:t> </a:t>
            </a:r>
            <a:r>
              <a:rPr dirty="0" spc="-10"/>
              <a:t>and</a:t>
            </a:r>
            <a:r>
              <a:rPr dirty="0" spc="-5"/>
              <a:t> </a:t>
            </a:r>
            <a:r>
              <a:rPr dirty="0" spc="-10"/>
              <a:t>optimized</a:t>
            </a:r>
            <a:r>
              <a:rPr dirty="0"/>
              <a:t> </a:t>
            </a:r>
            <a:r>
              <a:rPr dirty="0" spc="-50"/>
              <a:t>asset</a:t>
            </a:r>
            <a:r>
              <a:rPr dirty="0"/>
              <a:t> </a:t>
            </a:r>
            <a:r>
              <a:rPr dirty="0" spc="-10"/>
              <a:t>utilization </a:t>
            </a:r>
            <a:r>
              <a:rPr dirty="0"/>
              <a:t>without</a:t>
            </a:r>
            <a:r>
              <a:rPr dirty="0" spc="25"/>
              <a:t> </a:t>
            </a:r>
            <a:r>
              <a:rPr dirty="0" spc="-20"/>
              <a:t>laying</a:t>
            </a:r>
            <a:r>
              <a:rPr dirty="0" spc="25"/>
              <a:t> </a:t>
            </a:r>
            <a:r>
              <a:rPr dirty="0" spc="-20"/>
              <a:t>new</a:t>
            </a:r>
            <a:r>
              <a:rPr dirty="0" spc="25"/>
              <a:t> </a:t>
            </a:r>
            <a:r>
              <a:rPr dirty="0" spc="-10"/>
              <a:t>tracks.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70">
                <a:latin typeface="Arial Black"/>
                <a:cs typeface="Arial Black"/>
              </a:rPr>
              <a:t>Use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z="1100" spc="-190">
                <a:latin typeface="Arial Black"/>
                <a:cs typeface="Arial Black"/>
              </a:rPr>
              <a:t>Cases</a:t>
            </a:r>
            <a:r>
              <a:rPr dirty="0" sz="1100" spc="30">
                <a:latin typeface="Arial Black"/>
                <a:cs typeface="Arial Black"/>
              </a:rPr>
              <a:t> </a:t>
            </a:r>
            <a:r>
              <a:rPr dirty="0" spc="-20"/>
              <a:t>(compulsorily</a:t>
            </a:r>
            <a:r>
              <a:rPr dirty="0" spc="-35"/>
              <a:t> </a:t>
            </a:r>
            <a:r>
              <a:rPr dirty="0"/>
              <a:t>3</a:t>
            </a:r>
            <a:r>
              <a:rPr dirty="0" spc="30"/>
              <a:t> </a:t>
            </a:r>
            <a:r>
              <a:rPr dirty="0" spc="-60"/>
              <a:t>use</a:t>
            </a:r>
            <a:r>
              <a:rPr dirty="0" spc="30"/>
              <a:t> </a:t>
            </a:r>
            <a:r>
              <a:rPr dirty="0" spc="-75"/>
              <a:t>cases</a:t>
            </a:r>
            <a:r>
              <a:rPr dirty="0" spc="30"/>
              <a:t> </a:t>
            </a:r>
            <a:r>
              <a:rPr dirty="0"/>
              <a:t>must</a:t>
            </a:r>
            <a:r>
              <a:rPr dirty="0" spc="30"/>
              <a:t> </a:t>
            </a:r>
            <a:r>
              <a:rPr dirty="0"/>
              <a:t>be</a:t>
            </a:r>
            <a:r>
              <a:rPr dirty="0" spc="30"/>
              <a:t> </a:t>
            </a:r>
            <a:r>
              <a:rPr dirty="0" spc="-10"/>
              <a:t>there)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80266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498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29707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pc="-55"/>
              <a:t>Use</a:t>
            </a:r>
            <a:r>
              <a:rPr dirty="0" spc="5"/>
              <a:t> </a:t>
            </a:r>
            <a:r>
              <a:rPr dirty="0" spc="-65"/>
              <a:t>case</a:t>
            </a:r>
            <a:r>
              <a:rPr dirty="0" spc="10"/>
              <a:t> </a:t>
            </a:r>
            <a:r>
              <a:rPr dirty="0" spc="-25"/>
              <a:t>1:</a:t>
            </a:r>
          </a:p>
          <a:p>
            <a:pPr marL="12700" marR="5080">
              <a:lnSpc>
                <a:spcPct val="113100"/>
              </a:lnSpc>
            </a:pPr>
            <a:r>
              <a:rPr dirty="0" spc="-10"/>
              <a:t>Primary</a:t>
            </a:r>
            <a:r>
              <a:rPr dirty="0" spc="20"/>
              <a:t> </a:t>
            </a:r>
            <a:r>
              <a:rPr dirty="0" spc="-10"/>
              <a:t>Controller</a:t>
            </a:r>
            <a:r>
              <a:rPr dirty="0" spc="20"/>
              <a:t> </a:t>
            </a:r>
            <a:r>
              <a:rPr dirty="0" spc="-10"/>
              <a:t>Co-</a:t>
            </a:r>
            <a:r>
              <a:rPr dirty="0"/>
              <a:t>Pilot</a:t>
            </a:r>
            <a:r>
              <a:rPr dirty="0" spc="20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25"/>
              <a:t>Section</a:t>
            </a:r>
            <a:r>
              <a:rPr dirty="0" spc="20"/>
              <a:t> </a:t>
            </a:r>
            <a:r>
              <a:rPr dirty="0" spc="-30"/>
              <a:t>dispatchers</a:t>
            </a:r>
            <a:r>
              <a:rPr dirty="0" spc="20"/>
              <a:t> </a:t>
            </a:r>
            <a:r>
              <a:rPr dirty="0" spc="-60"/>
              <a:t>use</a:t>
            </a:r>
            <a:r>
              <a:rPr dirty="0" spc="25"/>
              <a:t> </a:t>
            </a:r>
            <a:r>
              <a:rPr dirty="0"/>
              <a:t>the</a:t>
            </a:r>
            <a:r>
              <a:rPr dirty="0" spc="20"/>
              <a:t> </a:t>
            </a:r>
            <a:r>
              <a:rPr dirty="0" spc="-25"/>
              <a:t>real-</a:t>
            </a:r>
            <a:r>
              <a:rPr dirty="0"/>
              <a:t>time</a:t>
            </a:r>
            <a:r>
              <a:rPr dirty="0" spc="20"/>
              <a:t> </a:t>
            </a:r>
            <a:r>
              <a:rPr dirty="0" spc="-10"/>
              <a:t>decision support</a:t>
            </a:r>
            <a:r>
              <a:rPr dirty="0"/>
              <a:t> </a:t>
            </a:r>
            <a:r>
              <a:rPr dirty="0" spc="-35"/>
              <a:t>system</a:t>
            </a:r>
            <a:r>
              <a:rPr dirty="0" spc="5"/>
              <a:t> </a:t>
            </a:r>
            <a:r>
              <a:rPr dirty="0"/>
              <a:t>to</a:t>
            </a:r>
            <a:r>
              <a:rPr dirty="0" spc="5"/>
              <a:t> </a:t>
            </a:r>
            <a:r>
              <a:rPr dirty="0"/>
              <a:t>instantly</a:t>
            </a:r>
            <a:r>
              <a:rPr dirty="0" spc="5"/>
              <a:t> </a:t>
            </a:r>
            <a:r>
              <a:rPr dirty="0" spc="-40"/>
              <a:t>resolve</a:t>
            </a:r>
            <a:r>
              <a:rPr dirty="0"/>
              <a:t> </a:t>
            </a:r>
            <a:r>
              <a:rPr dirty="0" spc="-25"/>
              <a:t>localized</a:t>
            </a:r>
            <a:r>
              <a:rPr dirty="0" spc="5"/>
              <a:t> </a:t>
            </a:r>
            <a:r>
              <a:rPr dirty="0"/>
              <a:t>track</a:t>
            </a:r>
            <a:r>
              <a:rPr dirty="0" spc="5"/>
              <a:t> </a:t>
            </a:r>
            <a:r>
              <a:rPr dirty="0"/>
              <a:t>conflicts</a:t>
            </a:r>
            <a:r>
              <a:rPr dirty="0" spc="5"/>
              <a:t> </a:t>
            </a:r>
            <a:r>
              <a:rPr dirty="0"/>
              <a:t>during </a:t>
            </a:r>
            <a:r>
              <a:rPr dirty="0" spc="-20"/>
              <a:t>peak </a:t>
            </a:r>
            <a:r>
              <a:rPr dirty="0" spc="-10"/>
              <a:t>operational</a:t>
            </a:r>
            <a:r>
              <a:rPr dirty="0" spc="-25"/>
              <a:t> </a:t>
            </a:r>
            <a:r>
              <a:rPr dirty="0" spc="-10"/>
              <a:t>hours.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55"/>
              <a:t>Use</a:t>
            </a:r>
            <a:r>
              <a:rPr dirty="0" spc="5"/>
              <a:t> </a:t>
            </a:r>
            <a:r>
              <a:rPr dirty="0" spc="-65"/>
              <a:t>case</a:t>
            </a:r>
            <a:r>
              <a:rPr dirty="0" spc="10"/>
              <a:t> </a:t>
            </a:r>
            <a:r>
              <a:rPr dirty="0" spc="-25"/>
              <a:t>2:</a:t>
            </a:r>
          </a:p>
          <a:p>
            <a:pPr marL="12700" marR="244475">
              <a:lnSpc>
                <a:spcPct val="113100"/>
              </a:lnSpc>
            </a:pPr>
            <a:r>
              <a:rPr dirty="0" spc="-35"/>
              <a:t>Mixed-Speed</a:t>
            </a:r>
            <a:r>
              <a:rPr dirty="0" spc="20"/>
              <a:t> </a:t>
            </a:r>
            <a:r>
              <a:rPr dirty="0" spc="-10"/>
              <a:t>Corridor</a:t>
            </a:r>
            <a:r>
              <a:rPr dirty="0" spc="20"/>
              <a:t> </a:t>
            </a:r>
            <a:r>
              <a:rPr dirty="0" spc="-25"/>
              <a:t>Management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0"/>
              <a:t> </a:t>
            </a:r>
            <a:r>
              <a:rPr dirty="0" spc="-25"/>
              <a:t>Managing</a:t>
            </a:r>
            <a:r>
              <a:rPr dirty="0" spc="25"/>
              <a:t> </a:t>
            </a:r>
            <a:r>
              <a:rPr dirty="0" spc="-20"/>
              <a:t>high-density</a:t>
            </a:r>
            <a:r>
              <a:rPr dirty="0" spc="20"/>
              <a:t> </a:t>
            </a:r>
            <a:r>
              <a:rPr dirty="0" spc="-10"/>
              <a:t>tracks smoothly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5"/>
              <a:t> </a:t>
            </a:r>
            <a:r>
              <a:rPr dirty="0" spc="-25"/>
              <a:t>dynamically</a:t>
            </a:r>
            <a:r>
              <a:rPr dirty="0" spc="5"/>
              <a:t> </a:t>
            </a:r>
            <a:r>
              <a:rPr dirty="0" spc="-10"/>
              <a:t>prioritizing</a:t>
            </a:r>
            <a:r>
              <a:rPr dirty="0" spc="5"/>
              <a:t> </a:t>
            </a:r>
            <a:r>
              <a:rPr dirty="0"/>
              <a:t>fast </a:t>
            </a:r>
            <a:r>
              <a:rPr dirty="0" spc="-50"/>
              <a:t>passenger</a:t>
            </a:r>
            <a:r>
              <a:rPr dirty="0" spc="5"/>
              <a:t> </a:t>
            </a:r>
            <a:r>
              <a:rPr dirty="0" spc="-70"/>
              <a:t>expresses</a:t>
            </a:r>
            <a:r>
              <a:rPr dirty="0" spc="10"/>
              <a:t> </a:t>
            </a:r>
            <a:r>
              <a:rPr dirty="0" spc="-10"/>
              <a:t>over</a:t>
            </a:r>
            <a:r>
              <a:rPr dirty="0"/>
              <a:t> </a:t>
            </a:r>
            <a:r>
              <a:rPr dirty="0" spc="-10"/>
              <a:t>heavy </a:t>
            </a:r>
            <a:r>
              <a:rPr dirty="0"/>
              <a:t>freight</a:t>
            </a:r>
            <a:r>
              <a:rPr dirty="0" spc="70"/>
              <a:t> </a:t>
            </a:r>
            <a:r>
              <a:rPr dirty="0"/>
              <a:t>without</a:t>
            </a:r>
            <a:r>
              <a:rPr dirty="0" spc="70"/>
              <a:t> </a:t>
            </a:r>
            <a:r>
              <a:rPr dirty="0" spc="-10"/>
              <a:t>gridlocks.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pc="-55"/>
              <a:t>Use</a:t>
            </a:r>
            <a:r>
              <a:rPr dirty="0" spc="5"/>
              <a:t> </a:t>
            </a:r>
            <a:r>
              <a:rPr dirty="0" spc="-65"/>
              <a:t>case</a:t>
            </a:r>
            <a:r>
              <a:rPr dirty="0" spc="10"/>
              <a:t> </a:t>
            </a:r>
            <a:r>
              <a:rPr dirty="0" spc="-25"/>
              <a:t>3:</a:t>
            </a:r>
          </a:p>
          <a:p>
            <a:pPr algn="just" marL="12700" marR="41275">
              <a:lnSpc>
                <a:spcPct val="113100"/>
              </a:lnSpc>
            </a:pPr>
            <a:r>
              <a:rPr dirty="0" spc="-40"/>
              <a:t>Emergency</a:t>
            </a:r>
            <a:r>
              <a:rPr dirty="0" spc="10"/>
              <a:t> </a:t>
            </a:r>
            <a:r>
              <a:rPr dirty="0"/>
              <a:t>Disruption</a:t>
            </a:r>
            <a:r>
              <a:rPr dirty="0" spc="15"/>
              <a:t> </a:t>
            </a:r>
            <a:r>
              <a:rPr dirty="0" spc="-45"/>
              <a:t>Recovery</a:t>
            </a:r>
            <a:r>
              <a:rPr dirty="0" spc="15"/>
              <a:t> </a:t>
            </a:r>
            <a:r>
              <a:rPr dirty="0"/>
              <a:t>—</a:t>
            </a:r>
            <a:r>
              <a:rPr dirty="0" spc="15"/>
              <a:t> </a:t>
            </a:r>
            <a:r>
              <a:rPr dirty="0" spc="-20"/>
              <a:t>Rapidly</a:t>
            </a:r>
            <a:r>
              <a:rPr dirty="0" spc="10"/>
              <a:t> </a:t>
            </a:r>
            <a:r>
              <a:rPr dirty="0" spc="-25"/>
              <a:t>recalculating</a:t>
            </a:r>
            <a:r>
              <a:rPr dirty="0" spc="15"/>
              <a:t> </a:t>
            </a:r>
            <a:r>
              <a:rPr dirty="0" spc="-10"/>
              <a:t>alternative</a:t>
            </a:r>
            <a:r>
              <a:rPr dirty="0" spc="15"/>
              <a:t> </a:t>
            </a:r>
            <a:r>
              <a:rPr dirty="0" spc="-10"/>
              <a:t>routing </a:t>
            </a:r>
            <a:r>
              <a:rPr dirty="0"/>
              <a:t>and </a:t>
            </a:r>
            <a:r>
              <a:rPr dirty="0" spc="-50"/>
              <a:t>schedules</a:t>
            </a:r>
            <a:r>
              <a:rPr dirty="0"/>
              <a:t> </a:t>
            </a:r>
            <a:r>
              <a:rPr dirty="0" spc="-10"/>
              <a:t>during</a:t>
            </a:r>
            <a:r>
              <a:rPr dirty="0"/>
              <a:t> </a:t>
            </a:r>
            <a:r>
              <a:rPr dirty="0" spc="-30"/>
              <a:t>unplanned</a:t>
            </a:r>
            <a:r>
              <a:rPr dirty="0"/>
              <a:t> track </a:t>
            </a:r>
            <a:r>
              <a:rPr dirty="0" spc="-30"/>
              <a:t>maintenance,</a:t>
            </a:r>
            <a:r>
              <a:rPr dirty="0"/>
              <a:t> </a:t>
            </a:r>
            <a:r>
              <a:rPr dirty="0" spc="-20"/>
              <a:t>signal</a:t>
            </a:r>
            <a:r>
              <a:rPr dirty="0"/>
              <a:t> </a:t>
            </a:r>
            <a:r>
              <a:rPr dirty="0" spc="-20"/>
              <a:t>failures,</a:t>
            </a:r>
            <a:r>
              <a:rPr dirty="0"/>
              <a:t> or </a:t>
            </a:r>
            <a:r>
              <a:rPr dirty="0" spc="-25"/>
              <a:t>severe </a:t>
            </a:r>
            <a:r>
              <a:rPr dirty="0" spc="-30"/>
              <a:t>weather</a:t>
            </a:r>
            <a:r>
              <a:rPr dirty="0"/>
              <a:t> </a:t>
            </a:r>
            <a:r>
              <a:rPr dirty="0" spc="-10"/>
              <a:t>events.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50">
                <a:latin typeface="Arial Black"/>
                <a:cs typeface="Arial Black"/>
              </a:rPr>
              <a:t>Impacts</a:t>
            </a:r>
            <a:r>
              <a:rPr dirty="0" sz="1100" spc="60">
                <a:latin typeface="Arial Black"/>
                <a:cs typeface="Arial Black"/>
              </a:rPr>
              <a:t> </a:t>
            </a:r>
            <a:r>
              <a:rPr dirty="0" sz="1100" spc="-150">
                <a:latin typeface="Arial Black"/>
                <a:cs typeface="Arial Black"/>
              </a:rPr>
              <a:t>and</a:t>
            </a:r>
            <a:r>
              <a:rPr dirty="0" sz="1100" spc="65">
                <a:latin typeface="Arial Black"/>
                <a:cs typeface="Arial Black"/>
              </a:rPr>
              <a:t> </a:t>
            </a:r>
            <a:r>
              <a:rPr dirty="0" sz="1100" spc="-105"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98000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7101" y="15720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7101" y="216408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5106" y="887098"/>
            <a:ext cx="3807460" cy="16751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900">
                <a:latin typeface="Arial"/>
                <a:cs typeface="Arial"/>
              </a:rPr>
              <a:t>Benefit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to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the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target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users:</a:t>
            </a:r>
            <a:endParaRPr sz="900">
              <a:latin typeface="Arial"/>
              <a:cs typeface="Arial"/>
            </a:endParaRPr>
          </a:p>
          <a:p>
            <a:pPr marL="12700" marR="12065">
              <a:lnSpc>
                <a:spcPct val="113100"/>
              </a:lnSpc>
            </a:pPr>
            <a:r>
              <a:rPr dirty="0" sz="900" spc="-10">
                <a:latin typeface="Arial"/>
                <a:cs typeface="Arial"/>
              </a:rPr>
              <a:t>Drastically </a:t>
            </a:r>
            <a:r>
              <a:rPr dirty="0" sz="900" spc="-45">
                <a:latin typeface="Arial"/>
                <a:cs typeface="Arial"/>
              </a:rPr>
              <a:t>reduces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controller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cognitive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overload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 </a:t>
            </a:r>
            <a:r>
              <a:rPr dirty="0" sz="900" spc="-40">
                <a:latin typeface="Arial"/>
                <a:cs typeface="Arial"/>
              </a:rPr>
              <a:t>stress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during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peak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hours </a:t>
            </a:r>
            <a:r>
              <a:rPr dirty="0" sz="900">
                <a:latin typeface="Arial"/>
                <a:cs typeface="Arial"/>
              </a:rPr>
              <a:t>by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providing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automated,</a:t>
            </a:r>
            <a:r>
              <a:rPr dirty="0" sz="900">
                <a:latin typeface="Arial"/>
                <a:cs typeface="Arial"/>
              </a:rPr>
              <a:t> optimal</a:t>
            </a:r>
            <a:r>
              <a:rPr dirty="0" sz="900" spc="-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recommendations.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20">
                <a:latin typeface="Arial"/>
                <a:cs typeface="Arial"/>
              </a:rPr>
              <a:t>Social,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0">
                <a:latin typeface="Arial"/>
                <a:cs typeface="Arial"/>
              </a:rPr>
              <a:t>economic,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or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environmental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impact:</a:t>
            </a:r>
            <a:endParaRPr sz="900">
              <a:latin typeface="Arial"/>
              <a:cs typeface="Arial"/>
            </a:endParaRPr>
          </a:p>
          <a:p>
            <a:pPr marL="12700" marR="156845">
              <a:lnSpc>
                <a:spcPct val="113100"/>
              </a:lnSpc>
            </a:pPr>
            <a:r>
              <a:rPr dirty="0" sz="900" spc="-40">
                <a:latin typeface="Arial"/>
                <a:cs typeface="Arial"/>
              </a:rPr>
              <a:t>Lowers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carbon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45">
                <a:latin typeface="Arial"/>
                <a:cs typeface="Arial"/>
              </a:rPr>
              <a:t>emissions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fuel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waste</a:t>
            </a:r>
            <a:r>
              <a:rPr dirty="0" sz="900">
                <a:latin typeface="Arial"/>
                <a:cs typeface="Arial"/>
              </a:rPr>
              <a:t> by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cutting </a:t>
            </a:r>
            <a:r>
              <a:rPr dirty="0" sz="900" spc="-20">
                <a:latin typeface="Arial"/>
                <a:cs typeface="Arial"/>
              </a:rPr>
              <a:t>down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train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idling </a:t>
            </a:r>
            <a:r>
              <a:rPr dirty="0" sz="900" spc="-10">
                <a:latin typeface="Arial"/>
                <a:cs typeface="Arial"/>
              </a:rPr>
              <a:t>times while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35">
                <a:latin typeface="Arial"/>
                <a:cs typeface="Arial"/>
              </a:rPr>
              <a:t>ensuring</a:t>
            </a:r>
            <a:r>
              <a:rPr dirty="0" sz="900">
                <a:latin typeface="Arial"/>
                <a:cs typeface="Arial"/>
              </a:rPr>
              <a:t> timely freight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passenger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transit.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30">
                <a:latin typeface="Arial"/>
                <a:cs typeface="Arial"/>
              </a:rPr>
              <a:t>Expected</a:t>
            </a:r>
            <a:r>
              <a:rPr dirty="0" sz="900" spc="20">
                <a:latin typeface="Arial"/>
                <a:cs typeface="Arial"/>
              </a:rPr>
              <a:t> </a:t>
            </a:r>
            <a:r>
              <a:rPr dirty="0" sz="900" spc="-50">
                <a:latin typeface="Arial"/>
                <a:cs typeface="Arial"/>
              </a:rPr>
              <a:t>measurable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outcome: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3100"/>
              </a:lnSpc>
            </a:pPr>
            <a:r>
              <a:rPr dirty="0" sz="900" spc="-40">
                <a:latin typeface="Arial"/>
                <a:cs typeface="Arial"/>
              </a:rPr>
              <a:t>Achieves</a:t>
            </a:r>
            <a:r>
              <a:rPr dirty="0" sz="900">
                <a:latin typeface="Arial"/>
                <a:cs typeface="Arial"/>
              </a:rPr>
              <a:t> a 43 </a:t>
            </a:r>
            <a:r>
              <a:rPr dirty="0" sz="900" spc="-10">
                <a:latin typeface="Arial"/>
                <a:cs typeface="Arial"/>
              </a:rPr>
              <a:t>percent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reduction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in </a:t>
            </a:r>
            <a:r>
              <a:rPr dirty="0" sz="900" spc="-30">
                <a:latin typeface="Arial"/>
                <a:cs typeface="Arial"/>
              </a:rPr>
              <a:t>delay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propagation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and</a:t>
            </a:r>
            <a:r>
              <a:rPr dirty="0" sz="900">
                <a:latin typeface="Arial"/>
                <a:cs typeface="Arial"/>
              </a:rPr>
              <a:t> total</a:t>
            </a:r>
            <a:r>
              <a:rPr dirty="0" sz="900" spc="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elimination</a:t>
            </a:r>
            <a:r>
              <a:rPr dirty="0" sz="900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of </a:t>
            </a:r>
            <a:r>
              <a:rPr dirty="0" sz="900" spc="-40">
                <a:latin typeface="Arial"/>
                <a:cs typeface="Arial"/>
              </a:rPr>
              <a:t>single-</a:t>
            </a:r>
            <a:r>
              <a:rPr dirty="0" sz="900" spc="-10">
                <a:latin typeface="Arial"/>
                <a:cs typeface="Arial"/>
              </a:rPr>
              <a:t>line</a:t>
            </a:r>
            <a:r>
              <a:rPr dirty="0" sz="900" spc="40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deadlocks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45">
                <a:solidFill>
                  <a:srgbClr val="154B33"/>
                </a:solidFill>
                <a:latin typeface="Arial Black"/>
                <a:cs typeface="Arial Black"/>
              </a:rPr>
              <a:t>Sustainable</a:t>
            </a:r>
            <a:r>
              <a:rPr dirty="0" sz="1100" spc="10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30">
                <a:solidFill>
                  <a:srgbClr val="154B33"/>
                </a:solidFill>
                <a:latin typeface="Arial Black"/>
                <a:cs typeface="Arial Black"/>
              </a:rPr>
              <a:t>Development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55">
                <a:solidFill>
                  <a:srgbClr val="154B33"/>
                </a:solidFill>
                <a:latin typeface="Arial Black"/>
                <a:cs typeface="Arial Black"/>
              </a:rPr>
              <a:t>Goals</a:t>
            </a:r>
            <a:r>
              <a:rPr dirty="0" sz="1100" spc="10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40">
                <a:solidFill>
                  <a:srgbClr val="154B33"/>
                </a:solidFill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32790" y="440131"/>
          <a:ext cx="4018915" cy="2776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/>
                <a:gridCol w="926465"/>
                <a:gridCol w="980439"/>
                <a:gridCol w="1170939"/>
              </a:tblGrid>
              <a:tr h="302260"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</a:t>
                      </a:r>
                      <a:r>
                        <a:rPr dirty="0" sz="900" spc="5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dirty="0" sz="900" spc="4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1240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9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9.1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154940">
                        <a:lnSpc>
                          <a:spcPct val="1131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Industry, Innovation,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Infrastructure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7493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50">
                          <a:latin typeface="Arial"/>
                          <a:cs typeface="Arial"/>
                        </a:rPr>
                        <a:t>Enhances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efficiency,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resilience, and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capacity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utilization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existing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railway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infrastructure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through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tech.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1233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45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dirty="0" sz="900" spc="-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25">
                          <a:latin typeface="Arial Black"/>
                          <a:cs typeface="Arial Black"/>
                        </a:rPr>
                        <a:t>13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Target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13.2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Climate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445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Directly </a:t>
                      </a:r>
                      <a:r>
                        <a:rPr dirty="0" sz="900" spc="-45">
                          <a:latin typeface="Arial"/>
                          <a:cs typeface="Arial"/>
                        </a:rPr>
                        <a:t>reduces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fossil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fuel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burn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carbon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footprint</a:t>
                      </a:r>
                      <a:r>
                        <a:rPr dirty="0" sz="900" spc="1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by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eliminating</a:t>
                      </a:r>
                      <a:r>
                        <a:rPr dirty="0" sz="9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prolonged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train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idling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forced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inefficient detours.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dirty="0" sz="1100" spc="5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114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dirty="0" sz="1100" spc="6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95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7182" y="629043"/>
          <a:ext cx="3750310" cy="2308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/>
                <a:gridCol w="2628265"/>
              </a:tblGrid>
              <a:tr h="30226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dirty="0" sz="900" spc="-8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dirty="0" sz="900" spc="2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1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dirty="0" sz="900" spc="25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92075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25">
                          <a:latin typeface="Arial Black"/>
                          <a:cs typeface="Arial Black"/>
                        </a:rPr>
                        <a:t>Tejashwini</a:t>
                      </a:r>
                      <a:r>
                        <a:rPr dirty="0" sz="900" spc="8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>
                          <a:latin typeface="Arial Black"/>
                          <a:cs typeface="Arial Black"/>
                        </a:rPr>
                        <a:t>M</a:t>
                      </a:r>
                      <a:r>
                        <a:rPr dirty="0" sz="900" spc="8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04139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30"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requirements,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railway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constraint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logic,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overall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project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coordination.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20">
                          <a:latin typeface="Arial Black"/>
                          <a:cs typeface="Arial Black"/>
                        </a:rPr>
                        <a:t>Shreya</a:t>
                      </a:r>
                      <a:r>
                        <a:rPr dirty="0" sz="900" spc="5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V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42418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Predictive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delay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algorithm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0">
                          <a:latin typeface="Arial"/>
                          <a:cs typeface="Arial"/>
                        </a:rPr>
                        <a:t>development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 and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dataset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preprocessing.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05">
                          <a:latin typeface="Arial Black"/>
                          <a:cs typeface="Arial Black"/>
                        </a:rPr>
                        <a:t>Libika</a:t>
                      </a:r>
                      <a:r>
                        <a:rPr dirty="0" sz="9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85">
                          <a:latin typeface="Arial Black"/>
                          <a:cs typeface="Arial Black"/>
                        </a:rPr>
                        <a:t>Sri</a:t>
                      </a:r>
                      <a:r>
                        <a:rPr dirty="0" sz="900" spc="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S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4572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8194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>
                          <a:latin typeface="Arial"/>
                          <a:cs typeface="Arial"/>
                        </a:rPr>
                        <a:t>UI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35">
                          <a:latin typeface="Arial"/>
                          <a:cs typeface="Arial"/>
                        </a:rPr>
                        <a:t>design,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D3.js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track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layout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visualization,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and real-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time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dashboard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build.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</a:tr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900" spc="-130">
                          <a:latin typeface="Arial Black"/>
                          <a:cs typeface="Arial Black"/>
                        </a:rPr>
                        <a:t>Swetha</a:t>
                      </a:r>
                      <a:r>
                        <a:rPr dirty="0" sz="900" spc="5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900" spc="-50">
                          <a:latin typeface="Arial Black"/>
                          <a:cs typeface="Arial Black"/>
                        </a:rPr>
                        <a:t>P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 marT="123189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20955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dirty="0" sz="900" spc="-35">
                          <a:latin typeface="Arial"/>
                          <a:cs typeface="Arial"/>
                        </a:rPr>
                        <a:t>Developing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constraint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programming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logic,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graph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modeling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 (NetworkX),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40">
                          <a:latin typeface="Arial"/>
                          <a:cs typeface="Arial"/>
                        </a:rPr>
                        <a:t>backend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5">
                          <a:latin typeface="Arial"/>
                          <a:cs typeface="Arial"/>
                        </a:rPr>
                        <a:t>API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development.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8128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dirty="0" sz="1100" spc="25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dirty="0" sz="1100" spc="-35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dirty="0" sz="9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883" y="1536186"/>
            <a:ext cx="1654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60">
                <a:solidFill>
                  <a:srgbClr val="154B33"/>
                </a:solidFill>
                <a:latin typeface="Arial Black"/>
                <a:cs typeface="Arial Black"/>
              </a:rPr>
              <a:t>IR2026-</a:t>
            </a:r>
            <a:r>
              <a:rPr dirty="0" sz="1700" spc="-165">
                <a:solidFill>
                  <a:srgbClr val="154B33"/>
                </a:solidFill>
                <a:latin typeface="Arial Black"/>
                <a:cs typeface="Arial Black"/>
              </a:rPr>
              <a:t>1051036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0"/>
              <a:t>GEN26-</a:t>
            </a:r>
            <a:r>
              <a:rPr dirty="0" spc="-45"/>
              <a:t>A0H-</a:t>
            </a:r>
            <a:r>
              <a:rPr dirty="0" spc="-30"/>
              <a:t>I076</a:t>
            </a:r>
            <a:r>
              <a:rPr dirty="0" spc="50"/>
              <a:t> </a:t>
            </a:r>
            <a:r>
              <a:rPr dirty="0"/>
              <a:t>|</a:t>
            </a:r>
            <a:r>
              <a:rPr dirty="0" spc="55"/>
              <a:t> </a:t>
            </a:r>
            <a:r>
              <a:rPr dirty="0" spc="-55"/>
              <a:t>NerdSquad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pc="-55"/>
              <a:t>11th</a:t>
            </a:r>
            <a:r>
              <a:rPr dirty="0" spc="25"/>
              <a:t> </a:t>
            </a:r>
            <a:r>
              <a:rPr dirty="0" spc="-55"/>
              <a:t>October</a:t>
            </a:r>
            <a:r>
              <a:rPr dirty="0" spc="25"/>
              <a:t> </a:t>
            </a:r>
            <a:r>
              <a:rPr dirty="0" spc="-55"/>
              <a:t>2026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Team ID: GEN26-A0H-I076[0.2cm] Team Name: NerdSquad[0.2cm] Domain: Domain 8-Space, Aerospace, Mobility and Next-Gen Infrastructure</dc:creator>
  <dc:title>Genesis Ideathon: Final Presentation</dc:title>
  <dcterms:created xsi:type="dcterms:W3CDTF">2026-10-11T07:54:03Z</dcterms:created>
  <dcterms:modified xsi:type="dcterms:W3CDTF">2026-10-11T07:54:03Z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2026-10-11T00:00:00Z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