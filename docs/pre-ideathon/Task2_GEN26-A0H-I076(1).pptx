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C16DC3-6B70-4F3F-BAA4-CC26C2A5AFD7}" v="51" dt="2026-10-08T02:16:46.867"/>
    <p1510:client id="{23649EF9-3649-4C72-A154-57F5F1BEAC1C}" v="150" dt="2026-10-07T20:04:01.104"/>
    <p1510:client id="{AEE2A784-5237-4262-B878-395E0F3B49C3}" v="546" dt="2026-10-09T15:06:53.3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315B4BF9-4865-4F50-A848-56B880767624}" type="datetimeFigureOut">
              <a:t>10/9/2026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37FD6E61-5BCE-480C-89EA-44C85275F36C}" type="slidenum">
              <a:t>‹#›</a:t>
            </a:fld>
            <a:endParaRPr lang="en-US"/>
          </a:p>
        </p:txBody>
      </p:sp>
    </p:spTree>
    <p:extLst>
      <p:ext uri="{BB962C8B-B14F-4D97-AF65-F5344CB8AC3E}">
        <p14:creationId xmlns:p14="http://schemas.microsoft.com/office/powerpoint/2010/main" val="1113467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294153"/>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513775"/>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042369"/>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548640" y="2420029"/>
            <a:ext cx="5669280" cy="365760"/>
          </a:xfrm>
          <a:prstGeom prst="rect">
            <a:avLst/>
          </a:prstGeom>
          <a:noFill/>
          <a:ln/>
        </p:spPr>
        <p:txBody>
          <a:bodyPr wrap="square" lIns="0" tIns="0" rIns="0" bIns="0" rtlCol="0" anchor="ctr"/>
          <a:lstStyle/>
          <a:p>
            <a:pPr marL="0" indent="0">
              <a:buNone/>
            </a:pPr>
            <a:r>
              <a:rPr lang="en-US" sz="1600" i="1" dirty="0">
                <a:solidFill>
                  <a:schemeClr val="accent6"/>
                </a:solidFill>
              </a:rPr>
              <a:t>Introduce your team and the domain you have chosen</a:t>
            </a:r>
            <a:endParaRPr lang="en-US" sz="1600" dirty="0"/>
          </a:p>
        </p:txBody>
      </p:sp>
      <p:sp>
        <p:nvSpPr>
          <p:cNvPr id="15" name="Cover Fields"/>
          <p:cNvSpPr txBox="1"/>
          <p:nvPr/>
        </p:nvSpPr>
        <p:spPr>
          <a:xfrm>
            <a:off x="548640" y="2784744"/>
            <a:ext cx="6035040" cy="2560320"/>
          </a:xfrm>
          <a:prstGeom prst="rect">
            <a:avLst/>
          </a:prstGeom>
          <a:noFill/>
          <a:ln/>
        </p:spPr>
        <p:txBody>
          <a:bodyPr wrap="square" lIns="0" tIns="0" rIns="0" bIns="0" rtlCol="0" anchor="t"/>
          <a:lstStyle/>
          <a:p>
            <a:pPr marL="279400" indent="-279400">
              <a:spcAft>
                <a:spcPts val="1400"/>
              </a:spcAft>
              <a:buClr>
                <a:schemeClr val="accent3"/>
              </a:buClr>
              <a:buSzPct val="100000"/>
              <a:buFont typeface="Arial"/>
              <a:buChar char="•"/>
            </a:pPr>
            <a:r>
              <a:rPr lang="en-US" sz="1800" dirty="0">
                <a:solidFill>
                  <a:schemeClr val="bg1"/>
                </a:solidFill>
              </a:rPr>
              <a:t>Team Name –</a:t>
            </a:r>
            <a:r>
              <a:rPr lang="en-US" dirty="0" err="1">
                <a:solidFill>
                  <a:schemeClr val="bg1"/>
                </a:solidFill>
              </a:rPr>
              <a:t>Nerdsquad</a:t>
            </a:r>
            <a:endParaRPr lang="en-US" sz="1800">
              <a:solidFill>
                <a:schemeClr val="bg1"/>
              </a:solidFill>
              <a:ea typeface="Calibri"/>
              <a:cs typeface="Calibri"/>
            </a:endParaRPr>
          </a:p>
          <a:p>
            <a:pPr marL="279400" indent="-279400">
              <a:spcAft>
                <a:spcPts val="1400"/>
              </a:spcAft>
              <a:buClr>
                <a:schemeClr val="accent3"/>
              </a:buClr>
              <a:buSzPct val="100000"/>
              <a:buFont typeface="Arial"/>
              <a:buChar char="•"/>
            </a:pPr>
            <a:r>
              <a:rPr lang="en-US" sz="1800">
                <a:solidFill>
                  <a:schemeClr val="bg1"/>
                </a:solidFill>
              </a:rPr>
              <a:t>Team Members –</a:t>
            </a:r>
            <a:endParaRPr lang="en-US">
              <a:solidFill>
                <a:schemeClr val="bg1"/>
              </a:solidFill>
              <a:ea typeface="Calibri"/>
              <a:cs typeface="Calibri"/>
            </a:endParaRPr>
          </a:p>
          <a:p>
            <a:pPr marL="285750" indent="-285750">
              <a:spcAft>
                <a:spcPts val="1400"/>
              </a:spcAft>
              <a:buClr>
                <a:schemeClr val="accent3"/>
              </a:buClr>
              <a:buSzPct val="100000"/>
              <a:buFont typeface="Arial"/>
              <a:buChar char="•"/>
            </a:pPr>
            <a:r>
              <a:rPr lang="en-US">
                <a:solidFill>
                  <a:schemeClr val="bg1"/>
                </a:solidFill>
              </a:rPr>
              <a:t>Tejashwini M R-CB.EN.U4ELC25040 </a:t>
            </a:r>
            <a:endParaRPr lang="en-US" sz="1800">
              <a:solidFill>
                <a:schemeClr val="bg1"/>
              </a:solidFill>
              <a:ea typeface="Calibri"/>
              <a:cs typeface="Calibri"/>
            </a:endParaRPr>
          </a:p>
          <a:p>
            <a:pPr marL="285750" indent="-285750">
              <a:spcAft>
                <a:spcPts val="1400"/>
              </a:spcAft>
              <a:buClr>
                <a:schemeClr val="accent3"/>
              </a:buClr>
              <a:buSzPct val="100000"/>
              <a:buFont typeface="Arial"/>
              <a:buChar char="•"/>
            </a:pPr>
            <a:r>
              <a:rPr lang="en-US">
                <a:solidFill>
                  <a:schemeClr val="bg1"/>
                </a:solidFill>
                <a:ea typeface="Calibri"/>
                <a:cs typeface="Calibri"/>
              </a:rPr>
              <a:t>Shreya V-</a:t>
            </a:r>
            <a:r>
              <a:rPr lang="en-US">
                <a:solidFill>
                  <a:schemeClr val="bg1"/>
                </a:solidFill>
                <a:ea typeface="+mn-lt"/>
                <a:cs typeface="+mn-lt"/>
              </a:rPr>
              <a:t>CB.PS.I5DAS25036</a:t>
            </a:r>
            <a:endParaRPr lang="en-US" dirty="0">
              <a:solidFill>
                <a:schemeClr val="bg1"/>
              </a:solidFill>
              <a:ea typeface="+mn-lt"/>
              <a:cs typeface="+mn-lt"/>
            </a:endParaRPr>
          </a:p>
          <a:p>
            <a:pPr marL="285750" indent="-285750">
              <a:spcAft>
                <a:spcPts val="1400"/>
              </a:spcAft>
              <a:buClr>
                <a:schemeClr val="accent3"/>
              </a:buClr>
              <a:buSzPct val="100000"/>
              <a:buFont typeface="Arial"/>
              <a:buChar char="•"/>
            </a:pPr>
            <a:r>
              <a:rPr lang="en-US">
                <a:solidFill>
                  <a:schemeClr val="bg1"/>
                </a:solidFill>
                <a:ea typeface="+mn-lt"/>
                <a:cs typeface="+mn-lt"/>
              </a:rPr>
              <a:t>Swetha P-CB.EN.U4ELC25039</a:t>
            </a:r>
            <a:endParaRPr lang="en-US">
              <a:solidFill>
                <a:schemeClr val="bg1"/>
              </a:solidFill>
              <a:ea typeface="Calibri"/>
              <a:cs typeface="Calibri"/>
            </a:endParaRPr>
          </a:p>
          <a:p>
            <a:pPr marL="285750" indent="-285750">
              <a:spcAft>
                <a:spcPts val="1400"/>
              </a:spcAft>
              <a:buClr>
                <a:schemeClr val="accent3"/>
              </a:buClr>
              <a:buSzPct val="100000"/>
              <a:buFont typeface="Arial"/>
              <a:buChar char="•"/>
            </a:pPr>
            <a:r>
              <a:rPr lang="en-US" dirty="0" err="1">
                <a:solidFill>
                  <a:schemeClr val="bg1"/>
                </a:solidFill>
              </a:rPr>
              <a:t>Libika</a:t>
            </a:r>
            <a:r>
              <a:rPr lang="en-US" dirty="0">
                <a:solidFill>
                  <a:schemeClr val="bg1"/>
                </a:solidFill>
              </a:rPr>
              <a:t> Sri S-CB.PS.I5DAS25015</a:t>
            </a:r>
            <a:endParaRPr lang="en-US" dirty="0">
              <a:solidFill>
                <a:schemeClr val="bg1"/>
              </a:solidFill>
              <a:ea typeface="Calibri"/>
              <a:cs typeface="Calibri"/>
            </a:endParaRPr>
          </a:p>
          <a:p>
            <a:pPr marL="279400" indent="-279400">
              <a:spcAft>
                <a:spcPts val="1400"/>
              </a:spcAft>
              <a:buClr>
                <a:schemeClr val="accent3"/>
              </a:buClr>
              <a:buSzPct val="100000"/>
              <a:buFont typeface="Arial"/>
              <a:buChar char="•"/>
            </a:pPr>
            <a:r>
              <a:rPr lang="en-US" sz="1800">
                <a:solidFill>
                  <a:schemeClr val="bg1"/>
                </a:solidFill>
              </a:rPr>
              <a:t>Selected Domain –</a:t>
            </a:r>
            <a:r>
              <a:rPr lang="en-US">
                <a:solidFill>
                  <a:schemeClr val="bg1"/>
                </a:solidFill>
              </a:rPr>
              <a:t>Domain 8</a:t>
            </a:r>
            <a:endParaRPr lang="en-US" sz="1800" dirty="0">
              <a:ea typeface="Calibri"/>
              <a:cs typeface="Calibri"/>
            </a:endParaRPr>
          </a:p>
          <a:p>
            <a:pPr marL="279400" indent="-279400">
              <a:spcAft>
                <a:spcPts val="1400"/>
              </a:spcAft>
              <a:buClr>
                <a:schemeClr val="accent3"/>
              </a:buClr>
              <a:buSzPct val="100000"/>
              <a:buFont typeface="Arial"/>
              <a:buChar char="•"/>
            </a:pPr>
            <a:r>
              <a:rPr lang="en-US" sz="1800" dirty="0">
                <a:solidFill>
                  <a:schemeClr val="bg1"/>
                </a:solidFill>
              </a:rPr>
              <a:t>Problem Statement –</a:t>
            </a:r>
            <a:r>
              <a:rPr lang="en-US" dirty="0" err="1">
                <a:solidFill>
                  <a:schemeClr val="bg1"/>
                </a:solidFill>
                <a:ea typeface="+mn-lt"/>
                <a:cs typeface="+mn-lt"/>
              </a:rPr>
              <a:t>RailSync</a:t>
            </a:r>
            <a:r>
              <a:rPr lang="en-US" dirty="0">
                <a:solidFill>
                  <a:schemeClr val="bg1"/>
                </a:solidFill>
                <a:ea typeface="+mn-lt"/>
                <a:cs typeface="+mn-lt"/>
              </a:rPr>
              <a:t>: The AI Traffic Controller for Heavy Railways</a:t>
            </a:r>
            <a:endParaRPr lang="en-US" dirty="0">
              <a:solidFill>
                <a:schemeClr val="bg1"/>
              </a:solidFill>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ea typeface="Calibri"/>
                <a:cs typeface="Calibri"/>
              </a:rPr>
              <a:t>Nerdsquad</a:t>
            </a: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Explain the problem in your domain simply, in your own words</a:t>
            </a:r>
            <a:endParaRPr lang="en-US" sz="1800" dirty="0"/>
          </a:p>
        </p:txBody>
      </p:sp>
      <p:sp>
        <p:nvSpPr>
          <p:cNvPr id="10" name="Prompts"/>
          <p:cNvSpPr txBox="1"/>
          <p:nvPr/>
        </p:nvSpPr>
        <p:spPr>
          <a:xfrm>
            <a:off x="879118" y="1919196"/>
            <a:ext cx="10424160" cy="11887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b="1" dirty="0"/>
              <a:t>What exactly needs to be solved?</a:t>
            </a:r>
            <a:endParaRPr lang="en-US" sz="1800" b="1" dirty="0">
              <a:ea typeface="Calibri"/>
              <a:cs typeface="Calibri"/>
            </a:endParaRPr>
          </a:p>
          <a:p>
            <a:pPr marL="279400" indent="-279400">
              <a:spcAft>
                <a:spcPts val="1000"/>
              </a:spcAft>
              <a:buClr>
                <a:schemeClr val="accent1"/>
              </a:buClr>
              <a:buSzPct val="100000"/>
              <a:buFont typeface="Arial"/>
              <a:buChar char="•"/>
            </a:pPr>
            <a:r>
              <a:rPr lang="en-US">
                <a:ea typeface="+mn-lt"/>
                <a:cs typeface="+mn-lt"/>
              </a:rPr>
              <a:t>When a single train gets delayed by just five minutes, it usually triggers a mess across the whole network. Today’s control systems react too late, often forcing trains onto long 30-minute detours when a quick 8-minute wait on a siding track would have kept everything moving. Controllers are stuck constantly juggling high-speed express trains with slow freight shipments, leading to gridlock, single-line standoffs, and massive scheduling headaches.</a:t>
            </a:r>
            <a:endParaRPr lang="en-US" dirty="0">
              <a:ea typeface="Calibri"/>
              <a:cs typeface="Calibri"/>
            </a:endParaRPr>
          </a:p>
          <a:p>
            <a:pPr marL="279400" indent="-279400">
              <a:spcAft>
                <a:spcPts val="1000"/>
              </a:spcAft>
              <a:buClr>
                <a:schemeClr val="accent1"/>
              </a:buClr>
              <a:buSzPct val="100000"/>
              <a:buChar char="•"/>
            </a:pPr>
            <a:r>
              <a:rPr lang="en-US" sz="1800" b="1" dirty="0"/>
              <a:t>Why is it important right now?</a:t>
            </a:r>
            <a:endParaRPr lang="en-US" sz="1800" b="1" dirty="0">
              <a:ea typeface="Calibri"/>
              <a:cs typeface="Calibri"/>
            </a:endParaRPr>
          </a:p>
          <a:p>
            <a:pPr marL="279400" indent="-279400">
              <a:spcAft>
                <a:spcPts val="1000"/>
              </a:spcAft>
              <a:buClr>
                <a:schemeClr val="accent1"/>
              </a:buClr>
              <a:buSzPct val="100000"/>
              <a:buFont typeface="Arial"/>
              <a:buChar char="•"/>
            </a:pPr>
            <a:r>
              <a:rPr lang="en-US">
                <a:ea typeface="+mn-lt"/>
                <a:cs typeface="+mn-lt"/>
              </a:rPr>
              <a:t>Rail tracks are more crowded than ever, and adding high-speed express trains into the mix has pushed legacy traffic management to its breaking point. Every delay ripples through the system, wasting tons of fuel, stalling supply chains, and leaving passengers stranded. Since building thousands of miles of new tracks isn't a quick fix, using real-time smart tech to keep existing lines running smoothly is the only practical way forward.</a:t>
            </a:r>
            <a:endParaRPr lang="en-US" dirty="0">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ea typeface="Calibri"/>
                <a:cs typeface="Calibri"/>
              </a:rPr>
              <a:t>Nerdsquad</a:t>
            </a: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85750" indent="-285750" algn="just">
              <a:spcAft>
                <a:spcPts val="1000"/>
              </a:spcAft>
              <a:buClr>
                <a:schemeClr val="accent1"/>
              </a:buClr>
              <a:buSzPct val="100000"/>
              <a:buFont typeface="Arial"/>
              <a:buChar char="•"/>
            </a:pPr>
            <a:r>
              <a:rPr lang="en-US" sz="1800" b="1" dirty="0"/>
              <a:t>Primary </a:t>
            </a:r>
            <a:r>
              <a:rPr lang="en-US" sz="1800" b="1" dirty="0" err="1"/>
              <a:t>users</a:t>
            </a:r>
            <a:r>
              <a:rPr lang="en-US" sz="1800" b="1" dirty="0"/>
              <a:t> / target </a:t>
            </a:r>
            <a:r>
              <a:rPr lang="en-US" b="1" dirty="0"/>
              <a:t>group:</a:t>
            </a:r>
            <a:endParaRPr lang="en-US" b="1" dirty="0">
              <a:ea typeface="Calibri"/>
              <a:cs typeface="Calibri"/>
            </a:endParaRPr>
          </a:p>
          <a:p>
            <a:pPr marL="285750" indent="-285750" algn="just">
              <a:spcAft>
                <a:spcPts val="1000"/>
              </a:spcAft>
              <a:buClr>
                <a:schemeClr val="accent1"/>
              </a:buClr>
              <a:buSzPct val="100000"/>
              <a:buFont typeface="Arial"/>
              <a:buChar char="•"/>
            </a:pPr>
            <a:r>
              <a:rPr lang="en-US"/>
              <a:t>Railway</a:t>
            </a:r>
            <a:r>
              <a:rPr lang="en-US" dirty="0">
                <a:ea typeface="+mn-lt"/>
                <a:cs typeface="+mn-lt"/>
              </a:rPr>
              <a:t> traffic controllers and section dispatchers who manage live train movements. </a:t>
            </a:r>
            <a:endParaRPr lang="en-US" dirty="0">
              <a:ea typeface="Calibri"/>
              <a:cs typeface="Calibri"/>
            </a:endParaRPr>
          </a:p>
          <a:p>
            <a:pPr marL="285750" indent="-285750" algn="just">
              <a:spcAft>
                <a:spcPts val="1000"/>
              </a:spcAft>
              <a:buClr>
                <a:schemeClr val="accent1"/>
              </a:buClr>
              <a:buSzPct val="100000"/>
              <a:buFont typeface="Arial"/>
              <a:buChar char="•"/>
            </a:pPr>
            <a:r>
              <a:rPr lang="en-US" sz="1800" b="1"/>
              <a:t>Secondary </a:t>
            </a:r>
            <a:r>
              <a:rPr lang="en-US" b="1"/>
              <a:t>stakeholders:</a:t>
            </a:r>
            <a:endParaRPr lang="en-US" b="1">
              <a:ea typeface="Calibri"/>
              <a:cs typeface="Calibri"/>
            </a:endParaRPr>
          </a:p>
          <a:p>
            <a:pPr marL="285750" indent="-285750" algn="just">
              <a:spcAft>
                <a:spcPts val="1000"/>
              </a:spcAft>
              <a:buClr>
                <a:schemeClr val="accent1"/>
              </a:buClr>
              <a:buSzPct val="100000"/>
              <a:buFont typeface="Arial"/>
              <a:buChar char="•"/>
            </a:pPr>
            <a:r>
              <a:rPr lang="en-US"/>
              <a:t>Railway</a:t>
            </a:r>
            <a:r>
              <a:rPr lang="en-US">
                <a:ea typeface="+mn-lt"/>
                <a:cs typeface="+mn-lt"/>
              </a:rPr>
              <a:t> zone officials, freight logistics companies, train drivers, and track maintenance teams.</a:t>
            </a:r>
            <a:endParaRPr lang="en-US">
              <a:ea typeface="Calibri"/>
              <a:cs typeface="Calibri"/>
            </a:endParaRPr>
          </a:p>
          <a:p>
            <a:pPr marL="285750" indent="-285750" algn="just">
              <a:spcAft>
                <a:spcPts val="1000"/>
              </a:spcAft>
              <a:buClr>
                <a:schemeClr val="accent1"/>
              </a:buClr>
              <a:buSzPct val="100000"/>
              <a:buFont typeface="Arial"/>
              <a:buChar char="•"/>
            </a:pPr>
            <a:r>
              <a:rPr lang="en-US" sz="1800" b="1"/>
              <a:t>Who benefits if the problem is solved?</a:t>
            </a:r>
            <a:endParaRPr lang="en-US" b="1">
              <a:ea typeface="+mn-lt"/>
              <a:cs typeface="+mn-lt"/>
            </a:endParaRPr>
          </a:p>
          <a:p>
            <a:pPr marL="285750" indent="-285750" algn="just">
              <a:spcAft>
                <a:spcPts val="1000"/>
              </a:spcAft>
              <a:buClr>
                <a:schemeClr val="accent1"/>
              </a:buClr>
              <a:buSzPct val="100000"/>
              <a:buFont typeface="Arial"/>
              <a:buChar char="•"/>
            </a:pPr>
            <a:r>
              <a:rPr lang="en-US">
                <a:ea typeface="+mn-lt"/>
                <a:cs typeface="+mn-lt"/>
              </a:rPr>
              <a:t>Passengers get predictable journeys with up to 43% fewer delays. Freight companies get reliable delivery </a:t>
            </a:r>
            <a:r>
              <a:rPr lang="en-US" dirty="0">
                <a:ea typeface="+mn-lt"/>
                <a:cs typeface="+mn-lt"/>
              </a:rPr>
              <a:t>schedules without long holds, and railway authorities save fuel while increasing track capacity without constructing new lines.</a:t>
            </a:r>
            <a:endParaRPr lang="en-US" dirty="0">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rPr>
              <a:t>Nerdsquad</a:t>
            </a:r>
            <a:endParaRPr lang="en-US" dirty="0" err="1">
              <a:solidFill>
                <a:schemeClr val="accent1"/>
              </a:solidFill>
            </a:endParaRP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b="1"/>
              <a:t>Existing scenario and </a:t>
            </a:r>
            <a:r>
              <a:rPr lang="en-US" b="1"/>
              <a:t>background:</a:t>
            </a:r>
            <a:endParaRPr lang="en-US" b="1">
              <a:ea typeface="Calibri"/>
              <a:cs typeface="Calibri"/>
            </a:endParaRPr>
          </a:p>
          <a:p>
            <a:pPr marL="279400" indent="-279400">
              <a:spcAft>
                <a:spcPts val="1000"/>
              </a:spcAft>
              <a:buClr>
                <a:schemeClr val="accent1"/>
              </a:buClr>
              <a:buSzPct val="100000"/>
              <a:buChar char="•"/>
            </a:pPr>
            <a:r>
              <a:rPr lang="en-US"/>
              <a:t>Rail</a:t>
            </a:r>
            <a:r>
              <a:rPr lang="en-US">
                <a:ea typeface="+mn-lt"/>
                <a:cs typeface="+mn-lt"/>
              </a:rPr>
              <a:t> networks are operating near maximum capacity using manual control and static schedules.</a:t>
            </a:r>
            <a:endParaRPr lang="en-US">
              <a:ea typeface="Calibri"/>
              <a:cs typeface="Calibri"/>
            </a:endParaRPr>
          </a:p>
          <a:p>
            <a:pPr marL="279400" indent="-279400">
              <a:spcAft>
                <a:spcPts val="1000"/>
              </a:spcAft>
              <a:buClr>
                <a:schemeClr val="accent1"/>
              </a:buClr>
              <a:buSzPct val="100000"/>
              <a:buFontTx/>
              <a:buChar char="•"/>
            </a:pPr>
            <a:r>
              <a:rPr lang="en-US" b="1">
                <a:ea typeface="+mn-lt"/>
                <a:cs typeface="+mn-lt"/>
              </a:rPr>
              <a:t>Relevant data or facts (if available):</a:t>
            </a:r>
          </a:p>
          <a:p>
            <a:pPr marL="279400" indent="-279400">
              <a:spcAft>
                <a:spcPts val="1000"/>
              </a:spcAft>
              <a:buClr>
                <a:schemeClr val="accent1"/>
              </a:buClr>
              <a:buSzPct val="100000"/>
              <a:buChar char="•"/>
            </a:pPr>
            <a:r>
              <a:rPr lang="en-US">
                <a:ea typeface="+mn-lt"/>
                <a:cs typeface="+mn-lt"/>
              </a:rPr>
              <a:t>A minor 5-minute delay often causes a 2-hour delay domino effect. Controllers frequently send trains on </a:t>
            </a:r>
            <a:r>
              <a:rPr lang="en-US" dirty="0">
                <a:ea typeface="+mn-lt"/>
                <a:cs typeface="+mn-lt"/>
              </a:rPr>
              <a:t>long 30-minute detours instead of quick 8-minute siding waits due to a lack of live predictive data.</a:t>
            </a:r>
            <a:endParaRPr lang="en-US" dirty="0">
              <a:ea typeface="Calibri"/>
              <a:cs typeface="Calibri"/>
            </a:endParaRPr>
          </a:p>
          <a:p>
            <a:pPr marL="279400" indent="-279400">
              <a:spcAft>
                <a:spcPts val="1000"/>
              </a:spcAft>
              <a:buClr>
                <a:schemeClr val="accent1"/>
              </a:buClr>
              <a:buSzPct val="100000"/>
              <a:buChar char="•"/>
            </a:pPr>
            <a:r>
              <a:rPr lang="en-US" sz="1800" b="1"/>
              <a:t>Current workflow, step by </a:t>
            </a:r>
            <a:r>
              <a:rPr lang="en-US" b="1"/>
              <a:t>step:</a:t>
            </a:r>
            <a:endParaRPr lang="en-US" b="1">
              <a:ea typeface="Calibri"/>
              <a:cs typeface="Calibri"/>
            </a:endParaRPr>
          </a:p>
          <a:p>
            <a:pPr marL="279400" indent="-279400">
              <a:spcAft>
                <a:spcPts val="1000"/>
              </a:spcAft>
              <a:buClr>
                <a:schemeClr val="accent1"/>
              </a:buClr>
              <a:buSzPct val="100000"/>
              <a:buChar char="•"/>
            </a:pPr>
            <a:r>
              <a:rPr lang="en-US"/>
              <a:t>When</a:t>
            </a:r>
            <a:r>
              <a:rPr lang="en-US">
                <a:ea typeface="+mn-lt"/>
                <a:cs typeface="+mn-lt"/>
              </a:rPr>
              <a:t> a train gets delayed, controllers react manually after the issue occurs. They use static schedules to </a:t>
            </a:r>
            <a:r>
              <a:rPr lang="en-US" dirty="0">
                <a:ea typeface="+mn-lt"/>
                <a:cs typeface="+mn-lt"/>
              </a:rPr>
              <a:t>reroute or hold trains, causing chain-reaction delays across neighboring sections.</a:t>
            </a:r>
            <a:endParaRPr lang="en-US" dirty="0">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err="1">
                <a:solidFill>
                  <a:schemeClr val="accent1"/>
                </a:solidFill>
                <a:ea typeface="Calibri"/>
                <a:cs typeface="Calibri"/>
              </a:rPr>
              <a:t>Nerdsquad</a:t>
            </a:r>
            <a:endParaRPr lang="en-US" sz="1500" b="1" dirty="0" err="1">
              <a:solidFill>
                <a:schemeClr val="accent1"/>
              </a:solidFill>
              <a:ea typeface="Calibri"/>
              <a:cs typeface="Calibri"/>
            </a:endParaRP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b="1"/>
              <a:t>Main difficulties and </a:t>
            </a:r>
            <a:r>
              <a:rPr lang="en-US" b="1"/>
              <a:t>bottlenecks:</a:t>
            </a:r>
            <a:endParaRPr lang="en-US" b="1">
              <a:ea typeface="Calibri"/>
              <a:cs typeface="Calibri"/>
            </a:endParaRPr>
          </a:p>
          <a:p>
            <a:pPr marL="279400" indent="-279400">
              <a:spcAft>
                <a:spcPts val="1000"/>
              </a:spcAft>
              <a:buClr>
                <a:schemeClr val="accent1"/>
              </a:buClr>
              <a:buSzPct val="100000"/>
              <a:buChar char="•"/>
            </a:pPr>
            <a:r>
              <a:rPr lang="en-US"/>
              <a:t>Controllers</a:t>
            </a:r>
            <a:r>
              <a:rPr lang="en-US">
                <a:ea typeface="+mn-lt"/>
                <a:cs typeface="+mn-lt"/>
              </a:rPr>
              <a:t> struggle to evaluate optimal routing options in real time and balance priority express trains with </a:t>
            </a:r>
            <a:r>
              <a:rPr lang="en-US" dirty="0">
                <a:ea typeface="+mn-lt"/>
                <a:cs typeface="+mn-lt"/>
              </a:rPr>
              <a:t>slow freight operations.</a:t>
            </a:r>
            <a:endParaRPr lang="en-US">
              <a:ea typeface="Calibri"/>
              <a:cs typeface="Calibri"/>
            </a:endParaRPr>
          </a:p>
          <a:p>
            <a:pPr marL="279400" indent="-279400">
              <a:spcAft>
                <a:spcPts val="1000"/>
              </a:spcAft>
              <a:buClr>
                <a:schemeClr val="accent1"/>
              </a:buClr>
              <a:buSzPct val="100000"/>
              <a:buChar char="•"/>
            </a:pPr>
            <a:r>
              <a:rPr lang="en-US" sz="1800" b="1"/>
              <a:t>Root causes behind </a:t>
            </a:r>
            <a:r>
              <a:rPr lang="en-US" b="1"/>
              <a:t>them:</a:t>
            </a:r>
            <a:endParaRPr lang="en-US" b="1">
              <a:ea typeface="Calibri"/>
              <a:cs typeface="Calibri"/>
            </a:endParaRPr>
          </a:p>
          <a:p>
            <a:pPr marL="279400" indent="-279400">
              <a:spcAft>
                <a:spcPts val="1000"/>
              </a:spcAft>
              <a:buClr>
                <a:schemeClr val="accent1"/>
              </a:buClr>
              <a:buSzPct val="100000"/>
              <a:buChar char="•"/>
            </a:pPr>
            <a:r>
              <a:rPr lang="en-US"/>
              <a:t>Reliance</a:t>
            </a:r>
            <a:r>
              <a:rPr lang="en-US">
                <a:ea typeface="+mn-lt"/>
                <a:cs typeface="+mn-lt"/>
              </a:rPr>
              <a:t> on manual decision-making and static rules instead of predictive network modeling.</a:t>
            </a:r>
            <a:endParaRPr lang="en-US">
              <a:ea typeface="Calibri"/>
              <a:cs typeface="Calibri"/>
            </a:endParaRPr>
          </a:p>
          <a:p>
            <a:pPr marL="279400" indent="-279400">
              <a:spcAft>
                <a:spcPts val="1000"/>
              </a:spcAft>
              <a:buClr>
                <a:schemeClr val="accent1"/>
              </a:buClr>
              <a:buSzPct val="100000"/>
              <a:buChar char="•"/>
            </a:pPr>
            <a:r>
              <a:rPr lang="en-US" sz="1800" b="1" dirty="0"/>
              <a:t>Consequences of leaving them </a:t>
            </a:r>
            <a:r>
              <a:rPr lang="en-US" b="1"/>
              <a:t>unsolved:</a:t>
            </a:r>
            <a:endParaRPr lang="en-US" b="1" dirty="0">
              <a:ea typeface="Calibri"/>
              <a:cs typeface="Calibri"/>
            </a:endParaRPr>
          </a:p>
          <a:p>
            <a:pPr marL="279400" indent="-279400">
              <a:spcAft>
                <a:spcPts val="1000"/>
              </a:spcAft>
              <a:buClr>
                <a:schemeClr val="accent1"/>
              </a:buClr>
              <a:buSzPct val="100000"/>
              <a:buChar char="•"/>
            </a:pPr>
            <a:r>
              <a:rPr lang="en-US"/>
              <a:t>Wasted</a:t>
            </a:r>
            <a:r>
              <a:rPr lang="en-US" dirty="0">
                <a:ea typeface="+mn-lt"/>
                <a:cs typeface="+mn-lt"/>
              </a:rPr>
              <a:t> fuel, severe network gridlocks, delayed freight shipments, and higher operating costs.</a:t>
            </a:r>
            <a:endParaRPr lang="en-US" dirty="0">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ea typeface="Calibri"/>
                <a:cs typeface="Calibri"/>
              </a:rPr>
              <a:t>Nerdsquad</a:t>
            </a: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b="1"/>
              <a:t>Existing methods, systems or </a:t>
            </a:r>
            <a:r>
              <a:rPr lang="en-US" b="1"/>
              <a:t>alternatives:</a:t>
            </a:r>
            <a:endParaRPr lang="en-US" b="1">
              <a:ea typeface="Calibri"/>
              <a:cs typeface="Calibri"/>
            </a:endParaRPr>
          </a:p>
          <a:p>
            <a:pPr marL="279400" indent="-279400">
              <a:spcAft>
                <a:spcPts val="1000"/>
              </a:spcAft>
              <a:buClr>
                <a:schemeClr val="accent1"/>
              </a:buClr>
              <a:buSzPct val="100000"/>
              <a:buChar char="•"/>
            </a:pPr>
            <a:r>
              <a:rPr lang="en-US"/>
              <a:t>Traditional</a:t>
            </a:r>
            <a:r>
              <a:rPr lang="en-US">
                <a:ea typeface="+mn-lt"/>
                <a:cs typeface="+mn-lt"/>
              </a:rPr>
              <a:t> automatic signals, manual dispatch boards, and static rule-based scheduling software.</a:t>
            </a:r>
            <a:endParaRPr lang="en-US">
              <a:ea typeface="Calibri"/>
              <a:cs typeface="Calibri"/>
            </a:endParaRPr>
          </a:p>
          <a:p>
            <a:pPr marL="279400" indent="-279400">
              <a:spcAft>
                <a:spcPts val="1000"/>
              </a:spcAft>
              <a:buClr>
                <a:schemeClr val="accent1"/>
              </a:buClr>
              <a:buSzPct val="100000"/>
              <a:buChar char="•"/>
            </a:pPr>
            <a:r>
              <a:rPr lang="en-US" sz="1800" b="1"/>
              <a:t>Limitations of </a:t>
            </a:r>
            <a:r>
              <a:rPr lang="en-US" b="1"/>
              <a:t>each:</a:t>
            </a:r>
            <a:endParaRPr lang="en-US" b="1">
              <a:ea typeface="Calibri"/>
              <a:cs typeface="Calibri"/>
            </a:endParaRPr>
          </a:p>
          <a:p>
            <a:pPr marL="279400" indent="-279400">
              <a:spcAft>
                <a:spcPts val="1000"/>
              </a:spcAft>
              <a:buClr>
                <a:schemeClr val="accent1"/>
              </a:buClr>
              <a:buSzPct val="100000"/>
              <a:buChar char="•"/>
            </a:pPr>
            <a:r>
              <a:rPr lang="en-US"/>
              <a:t>Manual</a:t>
            </a:r>
            <a:r>
              <a:rPr lang="en-US">
                <a:ea typeface="+mn-lt"/>
                <a:cs typeface="+mn-lt"/>
              </a:rPr>
              <a:t> methods overwhelm controllers during busy hours, while static software applies rigid rules that </a:t>
            </a:r>
            <a:r>
              <a:rPr lang="en-US" dirty="0">
                <a:ea typeface="+mn-lt"/>
                <a:cs typeface="+mn-lt"/>
              </a:rPr>
              <a:t>force unnecessary long detours.</a:t>
            </a:r>
            <a:endParaRPr lang="en-US">
              <a:ea typeface="Calibri"/>
              <a:cs typeface="Calibri"/>
            </a:endParaRPr>
          </a:p>
          <a:p>
            <a:pPr marL="279400" indent="-279400">
              <a:spcAft>
                <a:spcPts val="1000"/>
              </a:spcAft>
              <a:buClr>
                <a:schemeClr val="accent1"/>
              </a:buClr>
              <a:buSzPct val="100000"/>
              <a:buChar char="•"/>
            </a:pPr>
            <a:r>
              <a:rPr lang="en-US" sz="1800" b="1"/>
              <a:t>The gap they leave open (Key Challenges</a:t>
            </a:r>
            <a:r>
              <a:rPr lang="en-US" b="1"/>
              <a:t>):</a:t>
            </a:r>
            <a:endParaRPr lang="en-US" b="1">
              <a:ea typeface="+mn-lt"/>
              <a:cs typeface="+mn-lt"/>
            </a:endParaRPr>
          </a:p>
          <a:p>
            <a:pPr marL="279400" indent="-279400">
              <a:spcAft>
                <a:spcPts val="1000"/>
              </a:spcAft>
              <a:buClr>
                <a:schemeClr val="accent1"/>
              </a:buClr>
              <a:buSzPct val="100000"/>
              <a:buChar char="•"/>
            </a:pPr>
            <a:r>
              <a:rPr lang="en-US">
                <a:ea typeface="+mn-lt"/>
                <a:cs typeface="+mn-lt"/>
              </a:rPr>
              <a:t>No system provides a real-time 30-minute look-ahead view that factors in safety gaps, track switch delays, </a:t>
            </a:r>
            <a:r>
              <a:rPr lang="en-US" dirty="0">
                <a:ea typeface="+mn-lt"/>
                <a:cs typeface="+mn-lt"/>
              </a:rPr>
              <a:t>and siding availability.</a:t>
            </a:r>
            <a:endParaRPr lang="en-US" dirty="0">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ea typeface="Calibri"/>
                <a:cs typeface="Calibri"/>
              </a:rPr>
              <a:t>Nerdsquad</a:t>
            </a: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85750" indent="-285750">
              <a:spcAft>
                <a:spcPts val="1000"/>
              </a:spcAft>
              <a:buClr>
                <a:schemeClr val="accent1"/>
              </a:buClr>
              <a:buSzPct val="100000"/>
              <a:buFont typeface="Arial"/>
              <a:buChar char="•"/>
            </a:pPr>
            <a:r>
              <a:rPr lang="en-US" sz="1800" b="1" dirty="0"/>
              <a:t>Hardware Requirements</a:t>
            </a:r>
            <a:endParaRPr lang="en-US" b="1">
              <a:ea typeface="Calibri"/>
              <a:cs typeface="Calibri"/>
            </a:endParaRPr>
          </a:p>
          <a:p>
            <a:pPr marL="285750" indent="-285750">
              <a:spcAft>
                <a:spcPts val="1000"/>
              </a:spcAft>
              <a:buClr>
                <a:schemeClr val="accent1"/>
              </a:buClr>
              <a:buSzPct val="100000"/>
              <a:buFont typeface="Arial"/>
              <a:buChar char="•"/>
            </a:pPr>
            <a:r>
              <a:rPr lang="en-US">
                <a:ea typeface="+mn-lt"/>
                <a:cs typeface="+mn-lt"/>
              </a:rPr>
              <a:t>Cloud server cluster for real-time optimization and live dashboard streaming.</a:t>
            </a:r>
            <a:endParaRPr lang="en-US" dirty="0">
              <a:ea typeface="Calibri"/>
              <a:cs typeface="Calibri"/>
            </a:endParaRPr>
          </a:p>
          <a:p>
            <a:pPr marL="285750" indent="-285750">
              <a:spcAft>
                <a:spcPts val="1000"/>
              </a:spcAft>
              <a:buClr>
                <a:schemeClr val="accent1"/>
              </a:buClr>
              <a:buSzPct val="100000"/>
              <a:buFont typeface="Arial"/>
              <a:buChar char="•"/>
            </a:pPr>
            <a:r>
              <a:rPr lang="en-US" sz="1800" b="1" dirty="0"/>
              <a:t>Software Requirements</a:t>
            </a:r>
            <a:endParaRPr lang="en-US" sz="1800" b="1">
              <a:ea typeface="Calibri"/>
              <a:cs typeface="Calibri"/>
            </a:endParaRPr>
          </a:p>
          <a:p>
            <a:pPr marL="285750" indent="-285750">
              <a:spcAft>
                <a:spcPts val="1000"/>
              </a:spcAft>
              <a:buClr>
                <a:schemeClr val="accent1"/>
              </a:buClr>
              <a:buSzPct val="100000"/>
              <a:buFont typeface="Arial"/>
              <a:buChar char="•"/>
            </a:pPr>
            <a:r>
              <a:rPr lang="en-US" dirty="0">
                <a:ea typeface="+mn-lt"/>
                <a:cs typeface="+mn-lt"/>
              </a:rPr>
              <a:t>Python (</a:t>
            </a:r>
            <a:r>
              <a:rPr lang="en-US" dirty="0" err="1">
                <a:latin typeface="Consolas"/>
                <a:ea typeface="Calibri"/>
                <a:cs typeface="Calibri"/>
              </a:rPr>
              <a:t>NetworkX</a:t>
            </a:r>
            <a:r>
              <a:rPr lang="en-US" dirty="0">
                <a:ea typeface="+mn-lt"/>
                <a:cs typeface="+mn-lt"/>
              </a:rPr>
              <a:t>, Constraint Programming tools), Node.js / PostgreSQL, and React with D3.js.</a:t>
            </a:r>
            <a:endParaRPr lang="en-US" dirty="0">
              <a:ea typeface="Calibri"/>
              <a:cs typeface="Calibri"/>
            </a:endParaRPr>
          </a:p>
          <a:p>
            <a:pPr marL="285750" indent="-285750">
              <a:spcAft>
                <a:spcPts val="1000"/>
              </a:spcAft>
              <a:buClr>
                <a:schemeClr val="accent1"/>
              </a:buClr>
              <a:buSzPct val="100000"/>
              <a:buFont typeface="Arial"/>
              <a:buChar char="•"/>
            </a:pPr>
            <a:r>
              <a:rPr lang="en-US" sz="1800" b="1" dirty="0"/>
              <a:t>Other resources (Including Human Resources)</a:t>
            </a:r>
            <a:endParaRPr lang="en-US" sz="1800" b="1">
              <a:ea typeface="Calibri"/>
              <a:cs typeface="Calibri"/>
            </a:endParaRPr>
          </a:p>
          <a:p>
            <a:pPr marL="285750" indent="-285750">
              <a:spcAft>
                <a:spcPts val="1000"/>
              </a:spcAft>
              <a:buClr>
                <a:schemeClr val="accent1"/>
              </a:buClr>
              <a:buSzPct val="100000"/>
              <a:buFont typeface="Arial"/>
              <a:buChar char="•"/>
            </a:pPr>
            <a:r>
              <a:rPr lang="en-US">
                <a:ea typeface="+mn-lt"/>
                <a:cs typeface="+mn-lt"/>
              </a:rPr>
              <a:t>Railway domain expertise, graph algorithm engineers, full-stack developers, and UI designers. </a:t>
            </a:r>
            <a:endParaRPr lang="en-US" dirty="0">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ea typeface="Calibri"/>
                <a:cs typeface="Calibri"/>
              </a:rPr>
              <a:t>Nerdsquad</a:t>
            </a: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85750" indent="-285750">
              <a:spcAft>
                <a:spcPts val="1000"/>
              </a:spcAft>
              <a:buClr>
                <a:schemeClr val="accent1"/>
              </a:buClr>
              <a:buSzPct val="100000"/>
              <a:buFont typeface="Arial"/>
              <a:buChar char="•"/>
            </a:pPr>
            <a:r>
              <a:rPr lang="en-US" sz="1800" b="1" dirty="0"/>
              <a:t>What your team intends to do</a:t>
            </a:r>
            <a:endParaRPr lang="en-US" b="1">
              <a:ea typeface="Calibri"/>
              <a:cs typeface="Calibri"/>
            </a:endParaRPr>
          </a:p>
          <a:p>
            <a:pPr marL="285750" indent="-285750">
              <a:spcAft>
                <a:spcPts val="1000"/>
              </a:spcAft>
              <a:buClr>
                <a:schemeClr val="accent1"/>
              </a:buClr>
              <a:buSzPct val="100000"/>
              <a:buFont typeface="Arial"/>
              <a:buChar char="•"/>
            </a:pPr>
            <a:r>
              <a:rPr lang="en-US" dirty="0">
                <a:ea typeface="+mn-lt"/>
                <a:cs typeface="+mn-lt"/>
              </a:rPr>
              <a:t>Build </a:t>
            </a:r>
            <a:r>
              <a:rPr lang="en-US" dirty="0" err="1">
                <a:latin typeface="Consolas"/>
                <a:ea typeface="Calibri"/>
                <a:cs typeface="Calibri"/>
              </a:rPr>
              <a:t>RailSync</a:t>
            </a:r>
            <a:r>
              <a:rPr lang="en-US" dirty="0">
                <a:ea typeface="+mn-lt"/>
                <a:cs typeface="+mn-lt"/>
              </a:rPr>
              <a:t>, a predictive AI traffic engine using Graph Theory and Multi-Objective Constraint Optimization. </a:t>
            </a:r>
            <a:endParaRPr lang="en-US" dirty="0">
              <a:ea typeface="Calibri"/>
              <a:cs typeface="Calibri"/>
            </a:endParaRPr>
          </a:p>
          <a:p>
            <a:pPr marL="285750" indent="-285750">
              <a:spcAft>
                <a:spcPts val="1000"/>
              </a:spcAft>
              <a:buClr>
                <a:schemeClr val="accent1"/>
              </a:buClr>
              <a:buSzPct val="100000"/>
              <a:buFont typeface="Arial"/>
              <a:buChar char="•"/>
            </a:pPr>
            <a:r>
              <a:rPr lang="en-US" sz="1800" b="1" dirty="0"/>
              <a:t>What you want to improve</a:t>
            </a:r>
            <a:endParaRPr lang="en-US" sz="1800" b="1">
              <a:ea typeface="Calibri"/>
              <a:cs typeface="Calibri"/>
            </a:endParaRPr>
          </a:p>
          <a:p>
            <a:pPr marL="285750" indent="-285750">
              <a:spcAft>
                <a:spcPts val="1000"/>
              </a:spcAft>
              <a:buClr>
                <a:schemeClr val="accent1"/>
              </a:buClr>
              <a:buSzPct val="100000"/>
              <a:buFont typeface="Arial"/>
              <a:buChar char="•"/>
            </a:pPr>
            <a:r>
              <a:rPr lang="en-US">
                <a:ea typeface="+mn-lt"/>
                <a:cs typeface="+mn-lt"/>
              </a:rPr>
              <a:t>Network throughput, decision speed for controllers, express train punctuality, and freight movement.</a:t>
            </a:r>
            <a:endParaRPr lang="en-US" dirty="0">
              <a:ea typeface="Calibri"/>
              <a:cs typeface="Calibri"/>
            </a:endParaRPr>
          </a:p>
          <a:p>
            <a:pPr marL="285750" indent="-285750">
              <a:spcAft>
                <a:spcPts val="1000"/>
              </a:spcAft>
              <a:buClr>
                <a:schemeClr val="accent1"/>
              </a:buClr>
              <a:buSzPct val="100000"/>
              <a:buFont typeface="Arial"/>
              <a:buChar char="•"/>
            </a:pPr>
            <a:r>
              <a:rPr lang="en-US" sz="1800" b="1" dirty="0"/>
              <a:t>What successful improvement should you achieve</a:t>
            </a:r>
            <a:endParaRPr lang="en-US" sz="1800" b="1">
              <a:ea typeface="Calibri"/>
              <a:cs typeface="Calibri"/>
            </a:endParaRPr>
          </a:p>
          <a:p>
            <a:pPr marL="285750" indent="-285750">
              <a:spcAft>
                <a:spcPts val="1000"/>
              </a:spcAft>
              <a:buClr>
                <a:schemeClr val="accent1"/>
              </a:buClr>
              <a:buSzPct val="100000"/>
              <a:buFont typeface="Arial"/>
              <a:buChar char="•"/>
            </a:pPr>
            <a:r>
              <a:rPr lang="en-US">
                <a:ea typeface="Calibri"/>
                <a:cs typeface="Calibri"/>
              </a:rPr>
              <a:t> </a:t>
            </a:r>
            <a:r>
              <a:rPr lang="en-US">
                <a:ea typeface="+mn-lt"/>
                <a:cs typeface="+mn-lt"/>
              </a:rPr>
              <a:t>A 43% reduction in delays, zero single-line deadlocks, and reduced idling fuel consumption.</a:t>
            </a:r>
            <a:endParaRPr lang="en-US" dirty="0">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TEAM CONTRIBUTION</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ea typeface="Calibri"/>
                <a:cs typeface="Calibri"/>
              </a:rPr>
              <a:t>Nerdsquad</a:t>
            </a: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Who will handle which part of the execution</a:t>
            </a:r>
            <a:endParaRPr lang="en-US" sz="1800" dirty="0"/>
          </a:p>
        </p:txBody>
      </p:sp>
      <p:graphicFrame>
        <p:nvGraphicFramePr>
          <p:cNvPr id="10" name="Team Contribution Table"/>
          <p:cNvGraphicFramePr>
            <a:graphicFrameLocks noGrp="1"/>
          </p:cNvGraphicFramePr>
          <p:nvPr>
            <p:extLst>
              <p:ext uri="{D42A27DB-BD31-4B8C-83A1-F6EECF244321}">
                <p14:modId xmlns:p14="http://schemas.microsoft.com/office/powerpoint/2010/main" val="658243833"/>
              </p:ext>
            </p:extLst>
          </p:nvPr>
        </p:nvGraphicFramePr>
        <p:xfrm>
          <a:off x="548640" y="2194560"/>
          <a:ext cx="11094415" cy="3474720"/>
        </p:xfrm>
        <a:graphic>
          <a:graphicData uri="http://schemas.openxmlformats.org/drawingml/2006/table">
            <a:tbl>
              <a:tblPr/>
              <a:tblGrid>
                <a:gridCol w="30175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5516575">
                  <a:extLst>
                    <a:ext uri="{9D8B030D-6E8A-4147-A177-3AD203B41FA5}">
                      <a16:colId xmlns:a16="http://schemas.microsoft.com/office/drawing/2014/main" val="20002"/>
                    </a:ext>
                  </a:extLst>
                </a:gridCol>
              </a:tblGrid>
              <a:tr h="548640">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Team Member</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Responsibility in Execution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marL="0" indent="0">
                        <a:buNone/>
                      </a:pPr>
                      <a:r>
                        <a:rPr lang="en-US" sz="1400" b="1">
                          <a:solidFill>
                            <a:schemeClr val="tx1"/>
                          </a:solidFill>
                          <a:latin typeface="Calibri"/>
                          <a:ea typeface="Calibri"/>
                          <a:cs typeface="Calibri"/>
                        </a:rPr>
                        <a:t>TEJASHWINI M R</a:t>
                      </a:r>
                      <a:endParaRPr lang="en-US" sz="1400" b="1" dirty="0">
                        <a:solidFill>
                          <a:schemeClr val="tx1"/>
                        </a:solidFill>
                        <a:latin typeface="Calibri"/>
                        <a:ea typeface="Calibri"/>
                        <a:cs typeface="Calibri"/>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lvl="0" indent="0">
                        <a:buNone/>
                      </a:pPr>
                      <a:r>
                        <a:rPr lang="en-US" sz="1400" b="0" i="0" u="none" strike="noStrike" noProof="0">
                          <a:solidFill>
                            <a:schemeClr val="accent5"/>
                          </a:solidFill>
                        </a:rPr>
                        <a:t>Project Lead &amp; Domain Researcher</a:t>
                      </a:r>
                      <a:endParaRPr lang="en-US"/>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lvl="0" indent="0">
                        <a:buNone/>
                      </a:pPr>
                      <a:r>
                        <a:rPr lang="en-US" sz="1400" b="0" i="0" u="none" strike="noStrike" noProof="0">
                          <a:solidFill>
                            <a:schemeClr val="accent5"/>
                          </a:solidFill>
                        </a:rPr>
                        <a:t>System requirements, railway constraint logic, and project coordination.</a:t>
                      </a:r>
                      <a:endParaRPr lang="en-US"/>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marL="0" indent="0">
                        <a:buNone/>
                      </a:pPr>
                      <a:r>
                        <a:rPr lang="en-US" sz="1400" b="1">
                          <a:solidFill>
                            <a:schemeClr val="tx1"/>
                          </a:solidFill>
                          <a:latin typeface="Calibri"/>
                          <a:ea typeface="Calibri"/>
                          <a:cs typeface="Calibri"/>
                        </a:rPr>
                        <a:t>SHREYA V</a:t>
                      </a:r>
                      <a:endParaRPr lang="en-US" sz="1400" b="1" dirty="0">
                        <a:solidFill>
                          <a:schemeClr val="tx1"/>
                        </a:solidFill>
                        <a:latin typeface="Calibri"/>
                        <a:ea typeface="Calibri"/>
                        <a:cs typeface="Calibri"/>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lvl="0" indent="0">
                        <a:buNone/>
                      </a:pPr>
                      <a:r>
                        <a:rPr lang="en-US" sz="1400" b="0" i="0" u="none" strike="noStrike" noProof="0">
                          <a:solidFill>
                            <a:schemeClr val="accent5"/>
                          </a:solidFill>
                        </a:rPr>
                        <a:t>Data Science &amp; ML Specialist</a:t>
                      </a:r>
                      <a:endParaRPr lang="en-US"/>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lvl="0" indent="0">
                        <a:buNone/>
                      </a:pPr>
                      <a:r>
                        <a:rPr lang="en-US" sz="1400" b="0" i="0" u="none" strike="noStrike" noProof="0">
                          <a:solidFill>
                            <a:schemeClr val="accent5"/>
                          </a:solidFill>
                          <a:latin typeface="Calibri"/>
                          <a:ea typeface="Calibri"/>
                          <a:cs typeface="Calibri"/>
                        </a:rPr>
                        <a:t>Predictive delay algorithm development and dataset processing.</a:t>
                      </a:r>
                      <a:endParaRPr lang="en-US"/>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marL="0" lvl="0" indent="0">
                        <a:buNone/>
                      </a:pPr>
                      <a:r>
                        <a:rPr lang="en-US" sz="1400" b="1">
                          <a:solidFill>
                            <a:schemeClr val="tx1"/>
                          </a:solidFill>
                          <a:latin typeface="Calibri"/>
                          <a:ea typeface="Calibri"/>
                          <a:cs typeface="Calibri"/>
                        </a:rPr>
                        <a:t>SWETHA P</a:t>
                      </a:r>
                      <a:endParaRPr lang="en-US"/>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lvl="0" indent="0">
                        <a:buNone/>
                      </a:pPr>
                      <a:r>
                        <a:rPr lang="en-US" sz="1400" b="0" i="0" u="none" strike="noStrike" noProof="0">
                          <a:solidFill>
                            <a:schemeClr val="accent5"/>
                          </a:solidFill>
                        </a:rPr>
                        <a:t>Backend &amp; Optimization Engineer</a:t>
                      </a:r>
                      <a:endParaRPr lang="en-US"/>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lvl="0" indent="0">
                        <a:buNone/>
                      </a:pPr>
                      <a:r>
                        <a:rPr lang="en-US" sz="1400" b="0" i="0" u="none" strike="noStrike" noProof="0" dirty="0">
                          <a:solidFill>
                            <a:schemeClr val="accent5"/>
                          </a:solidFill>
                        </a:rPr>
                        <a:t>Developing constraint programming logic, graph modeling (</a:t>
                      </a:r>
                      <a:r>
                        <a:rPr lang="en-US" sz="1400" b="0" i="0" u="none" strike="noStrike" noProof="0" dirty="0" err="1">
                          <a:solidFill>
                            <a:schemeClr val="accent5"/>
                          </a:solidFill>
                          <a:latin typeface="Consolas"/>
                          <a:ea typeface="Calibri"/>
                          <a:cs typeface="Calibri"/>
                        </a:rPr>
                        <a:t>NetworkX</a:t>
                      </a:r>
                      <a:r>
                        <a:rPr lang="en-US" sz="1400" b="0" i="0" u="none" strike="noStrike" noProof="0" dirty="0">
                          <a:solidFill>
                            <a:schemeClr val="accent5"/>
                          </a:solidFill>
                        </a:rPr>
                        <a:t>), and API development.</a:t>
                      </a:r>
                      <a:endParaRPr lang="en-US" dirty="0"/>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lvl="0" indent="0">
                        <a:buNone/>
                      </a:pPr>
                      <a:r>
                        <a:rPr lang="en-US" sz="1400" b="1">
                          <a:solidFill>
                            <a:schemeClr val="tx1"/>
                          </a:solidFill>
                          <a:latin typeface="Calibri"/>
                          <a:ea typeface="Calibri"/>
                          <a:cs typeface="Calibri"/>
                        </a:rPr>
                        <a:t>LIBIKA SRI S</a:t>
                      </a:r>
                      <a:endParaRPr lang="en-US"/>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lvl="0" indent="0">
                        <a:buNone/>
                      </a:pPr>
                      <a:r>
                        <a:rPr lang="en-US" sz="1400" b="0" i="0" u="none" strike="noStrike" noProof="0">
                          <a:solidFill>
                            <a:schemeClr val="accent5"/>
                          </a:solidFill>
                        </a:rPr>
                        <a:t>Frontend &amp; Visualization Developer</a:t>
                      </a:r>
                      <a:endParaRPr lang="en-US"/>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lvl="0" indent="0">
                        <a:buNone/>
                      </a:pPr>
                      <a:r>
                        <a:rPr lang="en-US" sz="1400" b="0" i="0" u="none" strike="noStrike" noProof="0">
                          <a:solidFill>
                            <a:schemeClr val="accent5"/>
                          </a:solidFill>
                        </a:rPr>
                        <a:t>UI design, D3.js track layout visualization, and real-time dashboard build.</a:t>
                      </a:r>
                      <a:endParaRPr lang="en-US"/>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9</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lpstr>TEAM CONTRIBUTION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Genesis Ideathon</cp:lastModifiedBy>
  <cp:revision>225</cp:revision>
  <dcterms:created xsi:type="dcterms:W3CDTF">2026-10-07T15:27:40Z</dcterms:created>
  <dcterms:modified xsi:type="dcterms:W3CDTF">2026-10-09T15:07:14Z</dcterms:modified>
</cp:coreProperties>
</file>